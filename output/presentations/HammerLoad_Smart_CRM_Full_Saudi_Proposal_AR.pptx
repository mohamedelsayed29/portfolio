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افتتاحية ترحيبية: رحّب بالعميل باسم هامرلود، أشر إلى علم المملكة كلمسة احترافية توضح فهمنا للسوق السعودي، ثم انتقل مباشرة لعرض عنوان الحل.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شريحة العنوان الرئيسية. اشرح الفكرة المحورية: نظام واحد يوحّد العملاء والفروع والذكاء الاصطناعي والتسويق، بهدف تسريع الاستجابة ورفع نسبة إغلاق الصفقات. أشر إلى لقطة الواجهة كمثال حي على شكل النظام.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اعرض نقاط الألم الحالية التي تواجهها الفروع المتعددة. ركّز على أن غياب رؤية موحدة وتأخر الاستجابة يكلفان فرص مبيعات حقيقية، وأن الحل القادم يعالج كل نقطة بشكل مباشر.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قدّم الحل كمركز قيادة ذكي وموحّد: كل وظائف إدارة العملاء والصفقات والتوزيع والتنبيهات والذكاء الاصطناعي تعمل معًا من لوحة واحدة تخدم جميع الفروع.</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رحلة العميل السبع خطوات من وصوله حتى إغلاق الصفقة. أكد أن الانتقال بين الخطوات يتم تلقائيًا بواسطة النظام، مما يقلل فرص فقدان العميل بين المراحل.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تصنيفات العملاء الخمسة، وأن الذكاء الاصطناعي يحدد هذا التصنيف تلقائيًا اعتمادًا على السلوك والمصدر ومحتوى المحادثة ودرجة الإلحاح والموقع والاهتمام بالخدمة، مما يساعد فريق المبيعات على تركيز جهده على العملاء الأجدر بالمتابعة.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أظهر كيف يتتبع النظام كل مصدر عميل على حدة، ويحسب نسبة العملاء المؤهلين من كل قناة لمساعدة الإدارة على توجيه ميزانية التسويق نحو المصادر الأعلى جودة.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أن النظام يرسل تفاصيل العميل تلقائيًا لمدير الفرع المناسب عبر واتساب والبريد ومهمة داخلية، مع تصعيد تلقائي إن لم يتم الرد، وإعادة توزيع في حال انشغال الفرع — لضمان عدم ضياع أي عميل.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أن الذكاء الاصطناعي يعمل كمساعد أول للرد الفوري، يجمع بيانات العميل ويقترح الحل، لكنه يسلّم المحادثة لموظف المبيعات عند الحاجة — فهو يدعم الفريق ولا يستبدله.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ميزة تمييزية: رسائل صوتية آلية مخصصة (ترحيب، متابعة، تذكير بموعد، شرح العرض، متابعة بعد عدم الرد). وضّح أن التفعيل يعتمد على مزوّد واتساب بزنس المعتمد لدى العميل.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قدرات التحليل: تلخيص احتياج العميل، اكتشاف الاعتراضات، توقع احتمالية الإغلاق، اقتراح أفضل رد، وتنبيه الإدارة تلقائيًا عند وجود عميل مهم لم تتم متابعته.</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لخّص الأثر الفعلي على أداء المبيعات دون وعود بأرقام محددة: استجابة أسرع، عدم فقدان العملاء بين الفروع، متابعة منظمة، ووضوح في مصادر العملاء وأداء المدراء لاتخاذ قرارات أفضل.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أن الفروع لم تعد بحاجة لإدارة كل منصة على حدة: النشر والجدولة والاعتماد وربط الحملات بالعملاء المحتملين كلها من لوحة هامرلود الموحدة.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خطوات إنشاء الحملة الأربع، وأكد أن كل حملة مرتبطة تلقائيًا بنظام CRM بحيث يمكن تتبع كل عميل نتج عن كل منشور أو حملة بدقة.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مزايا تكميلية يمكن إضافتها حسب أولوية العميل: حجز المواعيد، مولّد عروض الأسعار، التوقيع الإلكتروني، لوحة الصدارة، الصلاحيات، وغيرها. لا حاجة لعرضها كلها بالتفصيل، فقط أشر إلى أنها متاحة ضمن خارطة الطريق.</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استعرض ما تراه الإدارة: إجمالي العملاء، توزيعهم حسب المصدر والفرع، الصفقات المفتوحة والمغلقة، سرعة الرد، أداء الموظفين، وأفضل القنوات التسويقية — كل ذلك في شاشة واحدة.</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اعرض مراحل التنفيذ السبع بالترتيب: الاكتشاف، تصميم UX/UI، بناء النواة، دمج الذكاء الاصطناعي والأتمتة، ربط منصات التواصل، الاختبار والإطلاق، ثم التدريب والدعم. وضّح أن الجدول الزمني الدقيق يُحدَّد بعد جلسة الاكتشاف.</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اختم بجملة القيمة الأساسية: نظام واحد يربط الفروع والعملاء والمبيعات والتسويق. اقترح جلسة عمل قصيرة كخطوة قادمة لتثبيت تفاصيل الفروع والمصادر ومراحل البيع، وسلّم بيانات التواصل.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21.png"/><Relationship Id="rId6" Type="http://schemas.openxmlformats.org/officeDocument/2006/relationships/image" Target="../media/image8.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11.png"/><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9.png"/><Relationship Id="rId6" Type="http://schemas.openxmlformats.org/officeDocument/2006/relationships/image" Target="../media/image21.png"/><Relationship Id="rId7" Type="http://schemas.openxmlformats.org/officeDocument/2006/relationships/image" Target="../media/image12.png"/><Relationship Id="rId8" Type="http://schemas.openxmlformats.org/officeDocument/2006/relationships/image" Target="../media/image22.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6.png"/><Relationship Id="rId12" Type="http://schemas.openxmlformats.org/officeDocument/2006/relationships/image" Target="../media/image33.png"/><Relationship Id="rId13" Type="http://schemas.openxmlformats.org/officeDocument/2006/relationships/image" Target="../media/image34.png"/><Relationship Id="rId14" Type="http://schemas.openxmlformats.org/officeDocument/2006/relationships/image" Target="../media/image35.png"/><Relationship Id="rId15" Type="http://schemas.openxmlformats.org/officeDocument/2006/relationships/image" Target="../media/image36.png"/><Relationship Id="rId1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hero.png"/>
          <p:cNvPicPr>
            <a:picLocks noChangeAspect="1"/>
          </p:cNvPicPr>
          <p:nvPr/>
        </p:nvPicPr>
        <p:blipFill>
          <a:blip r:embed="rId2"/>
          <a:stretch>
            <a:fillRect/>
          </a:stretch>
        </p:blipFill>
        <p:spPr>
          <a:xfrm>
            <a:off x="4449927" y="868680"/>
            <a:ext cx="3291840" cy="2057400"/>
          </a:xfrm>
          <a:prstGeom prst="rect">
            <a:avLst/>
          </a:prstGeom>
        </p:spPr>
      </p:pic>
      <p:sp>
        <p:nvSpPr>
          <p:cNvPr id="6" name="TextBox 5"/>
          <p:cNvSpPr txBox="1"/>
          <p:nvPr/>
        </p:nvSpPr>
        <p:spPr>
          <a:xfrm>
            <a:off x="1371600" y="3246120"/>
            <a:ext cx="9448495" cy="640080"/>
          </a:xfrm>
          <a:prstGeom prst="rect">
            <a:avLst/>
          </a:prstGeom>
          <a:noFill/>
        </p:spPr>
        <p:txBody>
          <a:bodyPr wrap="square" anchor="t" lIns="0" rIns="0" tIns="0" bIns="0">
            <a:spAutoFit/>
          </a:bodyPr>
          <a:lstStyle/>
          <a:p>
            <a:pPr algn="ctr" rtl="1">
              <a:lnSpc>
                <a:spcPct val="115000"/>
              </a:lnSpc>
            </a:pPr>
            <a:r>
              <a:rPr sz="3400" b="1">
                <a:solidFill>
                  <a:srgbClr val="FFFFFF"/>
                </a:solidFill>
                <a:latin typeface="Tahoma"/>
                <a:ea typeface="Tahoma"/>
                <a:cs typeface="Tahoma"/>
              </a:rPr>
              <a:t>أهلاً بكم في هامرلود</a:t>
            </a:r>
          </a:p>
        </p:txBody>
      </p:sp>
      <p:sp>
        <p:nvSpPr>
          <p:cNvPr id="7" name="TextBox 6"/>
          <p:cNvSpPr txBox="1"/>
          <p:nvPr/>
        </p:nvSpPr>
        <p:spPr>
          <a:xfrm>
            <a:off x="1371600" y="3822191"/>
            <a:ext cx="9448495" cy="457200"/>
          </a:xfrm>
          <a:prstGeom prst="rect">
            <a:avLst/>
          </a:prstGeom>
          <a:noFill/>
        </p:spPr>
        <p:txBody>
          <a:bodyPr wrap="square" anchor="t" lIns="0" rIns="0" tIns="0" bIns="0">
            <a:spAutoFit/>
          </a:bodyPr>
          <a:lstStyle/>
          <a:p>
            <a:pPr algn="ctr" rtl="1">
              <a:lnSpc>
                <a:spcPct val="115000"/>
              </a:lnSpc>
            </a:pPr>
            <a:r>
              <a:rPr sz="1700" b="0">
                <a:solidFill>
                  <a:srgbClr val="F2A31B"/>
                </a:solidFill>
                <a:latin typeface="Tahoma"/>
                <a:ea typeface="Tahoma"/>
                <a:cs typeface="Tahoma"/>
              </a:rPr>
              <a:t>عرض مقترح لنظام علاقات عملاء ذكي للفروع</a:t>
            </a:r>
          </a:p>
        </p:txBody>
      </p:sp>
      <p:sp>
        <p:nvSpPr>
          <p:cNvPr id="8" name="Rectangle 7"/>
          <p:cNvSpPr/>
          <p:nvPr/>
        </p:nvSpPr>
        <p:spPr>
          <a:xfrm>
            <a:off x="5684367" y="4370832"/>
            <a:ext cx="822960" cy="381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267047" y="5294376"/>
            <a:ext cx="978408" cy="688848"/>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audi_flag.png"/>
          <p:cNvPicPr>
            <a:picLocks noChangeAspect="1"/>
          </p:cNvPicPr>
          <p:nvPr/>
        </p:nvPicPr>
        <p:blipFill>
          <a:blip r:embed="rId3"/>
          <a:stretch>
            <a:fillRect/>
          </a:stretch>
        </p:blipFill>
        <p:spPr>
          <a:xfrm>
            <a:off x="4321911" y="5349240"/>
            <a:ext cx="868680" cy="579120"/>
          </a:xfrm>
          <a:prstGeom prst="rect">
            <a:avLst/>
          </a:prstGeom>
        </p:spPr>
      </p:pic>
      <p:sp>
        <p:nvSpPr>
          <p:cNvPr id="11" name="TextBox 10"/>
          <p:cNvSpPr txBox="1"/>
          <p:nvPr/>
        </p:nvSpPr>
        <p:spPr>
          <a:xfrm>
            <a:off x="5355183" y="5330952"/>
            <a:ext cx="2514600" cy="670560"/>
          </a:xfrm>
          <a:prstGeom prst="rect">
            <a:avLst/>
          </a:prstGeom>
          <a:noFill/>
        </p:spPr>
        <p:txBody>
          <a:bodyPr wrap="square" anchor="ctr" lIns="0" rIns="0" tIns="0" bIns="0">
            <a:spAutoFit/>
          </a:bodyPr>
          <a:lstStyle/>
          <a:p>
            <a:pPr algn="r" rtl="1">
              <a:lnSpc>
                <a:spcPct val="115000"/>
              </a:lnSpc>
            </a:pPr>
            <a:r>
              <a:rPr sz="1300" b="1">
                <a:solidFill>
                  <a:srgbClr val="FFFFFF"/>
                </a:solidFill>
                <a:latin typeface="Tahoma"/>
                <a:ea typeface="Tahoma"/>
                <a:cs typeface="Tahoma"/>
              </a:rPr>
              <a:t>المملكة العربية السعودية</a:t>
            </a:r>
          </a:p>
        </p:txBody>
      </p:sp>
      <p:sp>
        <p:nvSpPr>
          <p:cNvPr id="12" name="TextBox 11"/>
          <p:cNvSpPr txBox="1"/>
          <p:nvPr/>
        </p:nvSpPr>
        <p:spPr>
          <a:xfrm>
            <a:off x="1371600" y="6291072"/>
            <a:ext cx="9448495" cy="320040"/>
          </a:xfrm>
          <a:prstGeom prst="rect">
            <a:avLst/>
          </a:prstGeom>
          <a:noFill/>
        </p:spPr>
        <p:txBody>
          <a:bodyPr wrap="square" anchor="t" lIns="0" rIns="0" tIns="0" bIns="0">
            <a:spAutoFit/>
          </a:bodyPr>
          <a:lstStyle/>
          <a:p>
            <a:pPr algn="ctr" rtl="1">
              <a:lnSpc>
                <a:spcPct val="115000"/>
              </a:lnSpc>
            </a:pPr>
            <a:r>
              <a:rPr sz="1100" b="0">
                <a:solidFill>
                  <a:srgbClr val="C9CED6"/>
                </a:solidFill>
                <a:latin typeface="Tahoma"/>
                <a:ea typeface="Tahoma"/>
                <a:cs typeface="Tahoma"/>
              </a:rPr>
              <a:t>HammerLoad | نبني البرمجيات ونطوّرها بذكاء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HAMMERLOAD  •  عرض مقترح تقني</a:t>
            </a:r>
          </a:p>
        </p:txBody>
      </p:sp>
      <p:sp>
        <p:nvSpPr>
          <p:cNvPr id="6" name="TextBox 5"/>
          <p:cNvSpPr txBox="1"/>
          <p:nvPr/>
        </p:nvSpPr>
        <p:spPr>
          <a:xfrm>
            <a:off x="822960" y="1170432"/>
            <a:ext cx="5074920" cy="1737360"/>
          </a:xfrm>
          <a:prstGeom prst="rect">
            <a:avLst/>
          </a:prstGeom>
          <a:noFill/>
        </p:spPr>
        <p:txBody>
          <a:bodyPr wrap="square" anchor="t" lIns="0" rIns="0" tIns="0" bIns="0">
            <a:spAutoFit/>
          </a:bodyPr>
          <a:lstStyle/>
          <a:p>
            <a:pPr algn="r" rtl="1">
              <a:lnSpc>
                <a:spcPct val="115000"/>
              </a:lnSpc>
            </a:pPr>
            <a:r>
              <a:rPr sz="2900" b="1">
                <a:solidFill>
                  <a:srgbClr val="0B1B33"/>
                </a:solidFill>
                <a:latin typeface="Tahoma"/>
                <a:ea typeface="Tahoma"/>
                <a:cs typeface="Tahoma"/>
              </a:rPr>
              <a:t>نظام CRM ذكي لإدارة الفروع</a:t>
            </a:r>
          </a:p>
          <a:p>
            <a:pPr algn="r" rtl="1">
              <a:lnSpc>
                <a:spcPct val="115000"/>
              </a:lnSpc>
            </a:pPr>
            <a:r>
              <a:rPr sz="2900" b="1">
                <a:solidFill>
                  <a:srgbClr val="0B1B33"/>
                </a:solidFill>
                <a:latin typeface="Tahoma"/>
                <a:ea typeface="Tahoma"/>
                <a:cs typeface="Tahoma"/>
              </a:rPr>
              <a:t>وزيادة إغلاق الصفقات</a:t>
            </a:r>
          </a:p>
        </p:txBody>
      </p:sp>
      <p:sp>
        <p:nvSpPr>
          <p:cNvPr id="7" name="Rectangle 6"/>
          <p:cNvSpPr/>
          <p:nvPr/>
        </p:nvSpPr>
        <p:spPr>
          <a:xfrm>
            <a:off x="5074920" y="2788920"/>
            <a:ext cx="82296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063240"/>
            <a:ext cx="5074920" cy="1920240"/>
          </a:xfrm>
          <a:prstGeom prst="rect">
            <a:avLst/>
          </a:prstGeom>
          <a:noFill/>
        </p:spPr>
        <p:txBody>
          <a:bodyPr wrap="square" anchor="t" lIns="0" rIns="0" tIns="0" bIns="0">
            <a:spAutoFit/>
          </a:bodyPr>
          <a:lstStyle/>
          <a:p>
            <a:pPr algn="r" rtl="1">
              <a:lnSpc>
                <a:spcPct val="145000"/>
              </a:lnSpc>
            </a:pPr>
            <a:r>
              <a:rPr sz="1450" b="0">
                <a:solidFill>
                  <a:srgbClr val="636E80"/>
                </a:solidFill>
                <a:latin typeface="Tahoma"/>
                <a:ea typeface="Tahoma"/>
                <a:cs typeface="Tahoma"/>
              </a:rPr>
              <a:t>منصّة واحدة توحّد عملاءكم ومصادرهم وفروعكم، وتستخدم الذكاء الاصطناعي لتحليل كل عميل وتوجيهه تلقائيًا عبر واتساب والبريد الإلكتروني للفرع ومدير المبيعات المناسب — لتسريع الاستجابة ورفع معدل الإغلاق.</a:t>
            </a:r>
          </a:p>
        </p:txBody>
      </p:sp>
      <p:sp>
        <p:nvSpPr>
          <p:cNvPr id="9" name="Rounded Rectangle 8"/>
          <p:cNvSpPr/>
          <p:nvPr/>
        </p:nvSpPr>
        <p:spPr>
          <a:xfrm>
            <a:off x="3424428" y="5212080"/>
            <a:ext cx="2473452" cy="402336"/>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0148" y="5212080"/>
            <a:ext cx="2382012" cy="402336"/>
          </a:xfrm>
          <a:prstGeom prst="rect">
            <a:avLst/>
          </a:prstGeom>
          <a:noFill/>
        </p:spPr>
        <p:txBody>
          <a:bodyPr wrap="square" anchor="ctr" lIns="0" rIns="0" tIns="0" bIns="0">
            <a:spAutoFit/>
          </a:bodyPr>
          <a:lstStyle/>
          <a:p>
            <a:pPr algn="ctr" rtl="1">
              <a:lnSpc>
                <a:spcPct val="115000"/>
              </a:lnSpc>
            </a:pPr>
            <a:r>
              <a:rPr sz="1100" b="1">
                <a:solidFill>
                  <a:srgbClr val="0B1B33"/>
                </a:solidFill>
                <a:latin typeface="Tahoma"/>
                <a:ea typeface="Tahoma"/>
                <a:cs typeface="Tahoma"/>
              </a:rPr>
              <a:t>إدارة العملاء والصفقات</a:t>
            </a:r>
          </a:p>
        </p:txBody>
      </p:sp>
      <p:sp>
        <p:nvSpPr>
          <p:cNvPr id="11" name="Rounded Rectangle 10"/>
          <p:cNvSpPr/>
          <p:nvPr/>
        </p:nvSpPr>
        <p:spPr>
          <a:xfrm>
            <a:off x="822960" y="5212080"/>
            <a:ext cx="2473452" cy="402336"/>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212080"/>
            <a:ext cx="2382012" cy="402336"/>
          </a:xfrm>
          <a:prstGeom prst="rect">
            <a:avLst/>
          </a:prstGeom>
          <a:noFill/>
        </p:spPr>
        <p:txBody>
          <a:bodyPr wrap="square" anchor="ctr" lIns="0" rIns="0" tIns="0" bIns="0">
            <a:spAutoFit/>
          </a:bodyPr>
          <a:lstStyle/>
          <a:p>
            <a:pPr algn="ctr" rtl="1">
              <a:lnSpc>
                <a:spcPct val="115000"/>
              </a:lnSpc>
            </a:pPr>
            <a:r>
              <a:rPr sz="1100" b="1">
                <a:solidFill>
                  <a:srgbClr val="0B1B33"/>
                </a:solidFill>
                <a:latin typeface="Tahoma"/>
                <a:ea typeface="Tahoma"/>
                <a:cs typeface="Tahoma"/>
              </a:rPr>
              <a:t>توزيع ذكي حسب الفرع</a:t>
            </a:r>
          </a:p>
        </p:txBody>
      </p:sp>
      <p:sp>
        <p:nvSpPr>
          <p:cNvPr id="13" name="Rounded Rectangle 12"/>
          <p:cNvSpPr/>
          <p:nvPr/>
        </p:nvSpPr>
        <p:spPr>
          <a:xfrm>
            <a:off x="3424428" y="5742432"/>
            <a:ext cx="2473452" cy="402336"/>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0148" y="5742432"/>
            <a:ext cx="2382012" cy="402336"/>
          </a:xfrm>
          <a:prstGeom prst="rect">
            <a:avLst/>
          </a:prstGeom>
          <a:noFill/>
        </p:spPr>
        <p:txBody>
          <a:bodyPr wrap="square" anchor="ctr" lIns="0" rIns="0" tIns="0" bIns="0">
            <a:spAutoFit/>
          </a:bodyPr>
          <a:lstStyle/>
          <a:p>
            <a:pPr algn="ctr" rtl="1">
              <a:lnSpc>
                <a:spcPct val="115000"/>
              </a:lnSpc>
            </a:pPr>
            <a:r>
              <a:rPr sz="1100" b="1">
                <a:solidFill>
                  <a:srgbClr val="0B1B33"/>
                </a:solidFill>
                <a:latin typeface="Tahoma"/>
                <a:ea typeface="Tahoma"/>
                <a:cs typeface="Tahoma"/>
              </a:rPr>
              <a:t>أتمتة واتساب وإيميل</a:t>
            </a:r>
          </a:p>
        </p:txBody>
      </p:sp>
      <p:sp>
        <p:nvSpPr>
          <p:cNvPr id="15" name="Rounded Rectangle 14"/>
          <p:cNvSpPr/>
          <p:nvPr/>
        </p:nvSpPr>
        <p:spPr>
          <a:xfrm>
            <a:off x="822960" y="5742432"/>
            <a:ext cx="2473452" cy="402336"/>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742432"/>
            <a:ext cx="2382012" cy="402336"/>
          </a:xfrm>
          <a:prstGeom prst="rect">
            <a:avLst/>
          </a:prstGeom>
          <a:noFill/>
        </p:spPr>
        <p:txBody>
          <a:bodyPr wrap="square" anchor="ctr" lIns="0" rIns="0" tIns="0" bIns="0">
            <a:spAutoFit/>
          </a:bodyPr>
          <a:lstStyle/>
          <a:p>
            <a:pPr algn="ctr" rtl="1">
              <a:lnSpc>
                <a:spcPct val="115000"/>
              </a:lnSpc>
            </a:pPr>
            <a:r>
              <a:rPr sz="1100" b="1">
                <a:solidFill>
                  <a:srgbClr val="0B1B33"/>
                </a:solidFill>
                <a:latin typeface="Tahoma"/>
                <a:ea typeface="Tahoma"/>
                <a:cs typeface="Tahoma"/>
              </a:rPr>
              <a:t>تحليل بالذكاء الاصطناعي</a:t>
            </a:r>
          </a:p>
        </p:txBody>
      </p:sp>
      <p:pic>
        <p:nvPicPr>
          <p:cNvPr id="17" name="Picture 16" descr="dashboard_hero.png"/>
          <p:cNvPicPr>
            <a:picLocks noChangeAspect="1"/>
          </p:cNvPicPr>
          <p:nvPr/>
        </p:nvPicPr>
        <p:blipFill>
          <a:blip r:embed="rId3"/>
          <a:stretch>
            <a:fillRect/>
          </a:stretch>
        </p:blipFill>
        <p:spPr>
          <a:xfrm>
            <a:off x="6248095" y="1691640"/>
            <a:ext cx="5623560" cy="3542842"/>
          </a:xfrm>
          <a:prstGeom prst="rect">
            <a:avLst/>
          </a:prstGeom>
        </p:spPr>
      </p:pic>
      <p:sp>
        <p:nvSpPr>
          <p:cNvPr id="18" name="TextBox 1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19" name="TextBox 1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التحدي الحالي</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الفروع المتعددة تواجه تحديات تُبطئ نمو المبيعات</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03</a:t>
            </a:r>
          </a:p>
        </p:txBody>
      </p:sp>
      <p:sp>
        <p:nvSpPr>
          <p:cNvPr id="10" name="Rounded Rectangle 9"/>
          <p:cNvSpPr/>
          <p:nvPr/>
        </p:nvSpPr>
        <p:spPr>
          <a:xfrm>
            <a:off x="8069884" y="1965960"/>
            <a:ext cx="3436010" cy="1965960"/>
          </a:xfrm>
          <a:prstGeom prst="roundRect">
            <a:avLst>
              <a:gd name="adj" fmla="val 7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69884" y="1965960"/>
            <a:ext cx="3436010" cy="64008"/>
          </a:xfrm>
          <a:prstGeom prst="roundRect">
            <a:avLst>
              <a:gd name="adj" fmla="val 50000"/>
            </a:avLst>
          </a:prstGeom>
          <a:solidFill>
            <a:srgbClr val="D6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_branch.png"/>
          <p:cNvPicPr>
            <a:picLocks noChangeAspect="1"/>
          </p:cNvPicPr>
          <p:nvPr/>
        </p:nvPicPr>
        <p:blipFill>
          <a:blip r:embed="rId3"/>
          <a:stretch>
            <a:fillRect/>
          </a:stretch>
        </p:blipFill>
        <p:spPr>
          <a:xfrm>
            <a:off x="10682935" y="2221992"/>
            <a:ext cx="566928" cy="566928"/>
          </a:xfrm>
          <a:prstGeom prst="rect">
            <a:avLst/>
          </a:prstGeom>
        </p:spPr>
      </p:pic>
      <p:sp>
        <p:nvSpPr>
          <p:cNvPr id="13" name="TextBox 12"/>
          <p:cNvSpPr txBox="1"/>
          <p:nvPr/>
        </p:nvSpPr>
        <p:spPr>
          <a:xfrm>
            <a:off x="8298484" y="2926080"/>
            <a:ext cx="2978810" cy="502920"/>
          </a:xfrm>
          <a:prstGeom prst="rect">
            <a:avLst/>
          </a:prstGeom>
          <a:noFill/>
        </p:spPr>
        <p:txBody>
          <a:bodyPr wrap="square" anchor="t" lIns="0" rIns="0" tIns="0" bIns="0">
            <a:spAutoFit/>
          </a:bodyPr>
          <a:lstStyle/>
          <a:p>
            <a:pPr algn="r" rtl="1">
              <a:lnSpc>
                <a:spcPct val="115000"/>
              </a:lnSpc>
            </a:pPr>
            <a:r>
              <a:rPr sz="1450" b="1">
                <a:solidFill>
                  <a:srgbClr val="0B1B33"/>
                </a:solidFill>
                <a:latin typeface="Tahoma"/>
                <a:ea typeface="Tahoma"/>
                <a:cs typeface="Tahoma"/>
              </a:rPr>
              <a:t>فروع متعددة بدون رؤية موحدة</a:t>
            </a:r>
          </a:p>
        </p:txBody>
      </p:sp>
      <p:sp>
        <p:nvSpPr>
          <p:cNvPr id="14" name="TextBox 13"/>
          <p:cNvSpPr txBox="1"/>
          <p:nvPr/>
        </p:nvSpPr>
        <p:spPr>
          <a:xfrm>
            <a:off x="8298484" y="3383280"/>
            <a:ext cx="2978810" cy="502920"/>
          </a:xfrm>
          <a:prstGeom prst="rect">
            <a:avLst/>
          </a:prstGeom>
          <a:noFill/>
        </p:spPr>
        <p:txBody>
          <a:bodyPr wrap="square" anchor="t" lIns="0" rIns="0" tIns="0" bIns="0">
            <a:spAutoFit/>
          </a:bodyPr>
          <a:lstStyle/>
          <a:p>
            <a:pPr algn="r" rtl="1">
              <a:lnSpc>
                <a:spcPct val="125000"/>
              </a:lnSpc>
            </a:pPr>
            <a:r>
              <a:rPr sz="1050" b="0">
                <a:solidFill>
                  <a:srgbClr val="636E80"/>
                </a:solidFill>
                <a:latin typeface="Tahoma"/>
                <a:ea typeface="Tahoma"/>
                <a:cs typeface="Tahoma"/>
              </a:rPr>
              <a:t>كل فرع يعمل بمعزل عن الآخر دون صورة شاملة للإدارة</a:t>
            </a:r>
          </a:p>
        </p:txBody>
      </p:sp>
      <p:sp>
        <p:nvSpPr>
          <p:cNvPr id="15" name="Rounded Rectangle 14"/>
          <p:cNvSpPr/>
          <p:nvPr/>
        </p:nvSpPr>
        <p:spPr>
          <a:xfrm>
            <a:off x="4377842" y="1965960"/>
            <a:ext cx="3436010" cy="1965960"/>
          </a:xfrm>
          <a:prstGeom prst="roundRect">
            <a:avLst>
              <a:gd name="adj" fmla="val 7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7842" y="1965960"/>
            <a:ext cx="3436010" cy="64008"/>
          </a:xfrm>
          <a:prstGeom prst="roundRect">
            <a:avLst>
              <a:gd name="adj" fmla="val 50000"/>
            </a:avLst>
          </a:prstGeom>
          <a:solidFill>
            <a:srgbClr val="D6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funnel.png"/>
          <p:cNvPicPr>
            <a:picLocks noChangeAspect="1"/>
          </p:cNvPicPr>
          <p:nvPr/>
        </p:nvPicPr>
        <p:blipFill>
          <a:blip r:embed="rId4"/>
          <a:stretch>
            <a:fillRect/>
          </a:stretch>
        </p:blipFill>
        <p:spPr>
          <a:xfrm>
            <a:off x="6990892" y="2221992"/>
            <a:ext cx="566928" cy="566928"/>
          </a:xfrm>
          <a:prstGeom prst="rect">
            <a:avLst/>
          </a:prstGeom>
        </p:spPr>
      </p:pic>
      <p:sp>
        <p:nvSpPr>
          <p:cNvPr id="18" name="TextBox 17"/>
          <p:cNvSpPr txBox="1"/>
          <p:nvPr/>
        </p:nvSpPr>
        <p:spPr>
          <a:xfrm>
            <a:off x="4606442" y="2926080"/>
            <a:ext cx="2978810" cy="502920"/>
          </a:xfrm>
          <a:prstGeom prst="rect">
            <a:avLst/>
          </a:prstGeom>
          <a:noFill/>
        </p:spPr>
        <p:txBody>
          <a:bodyPr wrap="square" anchor="t" lIns="0" rIns="0" tIns="0" bIns="0">
            <a:spAutoFit/>
          </a:bodyPr>
          <a:lstStyle/>
          <a:p>
            <a:pPr algn="r" rtl="1">
              <a:lnSpc>
                <a:spcPct val="115000"/>
              </a:lnSpc>
            </a:pPr>
            <a:r>
              <a:rPr sz="1450" b="1">
                <a:solidFill>
                  <a:srgbClr val="0B1B33"/>
                </a:solidFill>
                <a:latin typeface="Tahoma"/>
                <a:ea typeface="Tahoma"/>
                <a:cs typeface="Tahoma"/>
              </a:rPr>
              <a:t>العملاء يأتون من مصادر كثيرة</a:t>
            </a:r>
          </a:p>
        </p:txBody>
      </p:sp>
      <p:sp>
        <p:nvSpPr>
          <p:cNvPr id="19" name="TextBox 18"/>
          <p:cNvSpPr txBox="1"/>
          <p:nvPr/>
        </p:nvSpPr>
        <p:spPr>
          <a:xfrm>
            <a:off x="4606442" y="3383280"/>
            <a:ext cx="2978810" cy="502920"/>
          </a:xfrm>
          <a:prstGeom prst="rect">
            <a:avLst/>
          </a:prstGeom>
          <a:noFill/>
        </p:spPr>
        <p:txBody>
          <a:bodyPr wrap="square" anchor="t" lIns="0" rIns="0" tIns="0" bIns="0">
            <a:spAutoFit/>
          </a:bodyPr>
          <a:lstStyle/>
          <a:p>
            <a:pPr algn="r" rtl="1">
              <a:lnSpc>
                <a:spcPct val="125000"/>
              </a:lnSpc>
            </a:pPr>
            <a:r>
              <a:rPr sz="1050" b="0">
                <a:solidFill>
                  <a:srgbClr val="636E80"/>
                </a:solidFill>
                <a:latin typeface="Tahoma"/>
                <a:ea typeface="Tahoma"/>
                <a:cs typeface="Tahoma"/>
              </a:rPr>
              <a:t>واتساب وفيسبوك وانستقرام والموقع والاتصال المباشر بلا تجميع</a:t>
            </a:r>
          </a:p>
        </p:txBody>
      </p:sp>
      <p:sp>
        <p:nvSpPr>
          <p:cNvPr id="20" name="Rounded Rectangle 19"/>
          <p:cNvSpPr/>
          <p:nvPr/>
        </p:nvSpPr>
        <p:spPr>
          <a:xfrm>
            <a:off x="685799" y="1965960"/>
            <a:ext cx="3436010" cy="1965960"/>
          </a:xfrm>
          <a:prstGeom prst="roundRect">
            <a:avLst>
              <a:gd name="adj" fmla="val 7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799" y="1965960"/>
            <a:ext cx="3436010" cy="64008"/>
          </a:xfrm>
          <a:prstGeom prst="roundRect">
            <a:avLst>
              <a:gd name="adj" fmla="val 50000"/>
            </a:avLst>
          </a:prstGeom>
          <a:solidFill>
            <a:srgbClr val="D6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c_clock.png"/>
          <p:cNvPicPr>
            <a:picLocks noChangeAspect="1"/>
          </p:cNvPicPr>
          <p:nvPr/>
        </p:nvPicPr>
        <p:blipFill>
          <a:blip r:embed="rId5"/>
          <a:stretch>
            <a:fillRect/>
          </a:stretch>
        </p:blipFill>
        <p:spPr>
          <a:xfrm>
            <a:off x="3298850" y="2221992"/>
            <a:ext cx="566928" cy="566928"/>
          </a:xfrm>
          <a:prstGeom prst="rect">
            <a:avLst/>
          </a:prstGeom>
        </p:spPr>
      </p:pic>
      <p:sp>
        <p:nvSpPr>
          <p:cNvPr id="23" name="TextBox 22"/>
          <p:cNvSpPr txBox="1"/>
          <p:nvPr/>
        </p:nvSpPr>
        <p:spPr>
          <a:xfrm>
            <a:off x="914399" y="2926080"/>
            <a:ext cx="2978810" cy="502920"/>
          </a:xfrm>
          <a:prstGeom prst="rect">
            <a:avLst/>
          </a:prstGeom>
          <a:noFill/>
        </p:spPr>
        <p:txBody>
          <a:bodyPr wrap="square" anchor="t" lIns="0" rIns="0" tIns="0" bIns="0">
            <a:spAutoFit/>
          </a:bodyPr>
          <a:lstStyle/>
          <a:p>
            <a:pPr algn="r" rtl="1">
              <a:lnSpc>
                <a:spcPct val="115000"/>
              </a:lnSpc>
            </a:pPr>
            <a:r>
              <a:rPr sz="1450" b="1">
                <a:solidFill>
                  <a:srgbClr val="0B1B33"/>
                </a:solidFill>
                <a:latin typeface="Tahoma"/>
                <a:ea typeface="Tahoma"/>
                <a:cs typeface="Tahoma"/>
              </a:rPr>
              <a:t>تأخر الرد يقلل فرصة الإغلاق</a:t>
            </a:r>
          </a:p>
        </p:txBody>
      </p:sp>
      <p:sp>
        <p:nvSpPr>
          <p:cNvPr id="24" name="TextBox 23"/>
          <p:cNvSpPr txBox="1"/>
          <p:nvPr/>
        </p:nvSpPr>
        <p:spPr>
          <a:xfrm>
            <a:off x="914399" y="3383280"/>
            <a:ext cx="2978810" cy="502920"/>
          </a:xfrm>
          <a:prstGeom prst="rect">
            <a:avLst/>
          </a:prstGeom>
          <a:noFill/>
        </p:spPr>
        <p:txBody>
          <a:bodyPr wrap="square" anchor="t" lIns="0" rIns="0" tIns="0" bIns="0">
            <a:spAutoFit/>
          </a:bodyPr>
          <a:lstStyle/>
          <a:p>
            <a:pPr algn="r" rtl="1">
              <a:lnSpc>
                <a:spcPct val="125000"/>
              </a:lnSpc>
            </a:pPr>
            <a:r>
              <a:rPr sz="1050" b="0">
                <a:solidFill>
                  <a:srgbClr val="636E80"/>
                </a:solidFill>
                <a:latin typeface="Tahoma"/>
                <a:ea typeface="Tahoma"/>
                <a:cs typeface="Tahoma"/>
              </a:rPr>
              <a:t>كل دقيقة تأخير تعني احتمال فقدان العميل لصالح المنافس</a:t>
            </a:r>
          </a:p>
        </p:txBody>
      </p:sp>
      <p:sp>
        <p:nvSpPr>
          <p:cNvPr id="25" name="Rounded Rectangle 24"/>
          <p:cNvSpPr/>
          <p:nvPr/>
        </p:nvSpPr>
        <p:spPr>
          <a:xfrm>
            <a:off x="8069884" y="4187952"/>
            <a:ext cx="3436010" cy="1965960"/>
          </a:xfrm>
          <a:prstGeom prst="roundRect">
            <a:avLst>
              <a:gd name="adj" fmla="val 7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69884" y="4187952"/>
            <a:ext cx="3436010" cy="64008"/>
          </a:xfrm>
          <a:prstGeom prst="roundRect">
            <a:avLst>
              <a:gd name="adj" fmla="val 50000"/>
            </a:avLst>
          </a:prstGeom>
          <a:solidFill>
            <a:srgbClr val="D6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c_chart.png"/>
          <p:cNvPicPr>
            <a:picLocks noChangeAspect="1"/>
          </p:cNvPicPr>
          <p:nvPr/>
        </p:nvPicPr>
        <p:blipFill>
          <a:blip r:embed="rId6"/>
          <a:stretch>
            <a:fillRect/>
          </a:stretch>
        </p:blipFill>
        <p:spPr>
          <a:xfrm>
            <a:off x="10682935" y="4443984"/>
            <a:ext cx="566928" cy="566928"/>
          </a:xfrm>
          <a:prstGeom prst="rect">
            <a:avLst/>
          </a:prstGeom>
        </p:spPr>
      </p:pic>
      <p:sp>
        <p:nvSpPr>
          <p:cNvPr id="28" name="TextBox 27"/>
          <p:cNvSpPr txBox="1"/>
          <p:nvPr/>
        </p:nvSpPr>
        <p:spPr>
          <a:xfrm>
            <a:off x="8298484" y="5148072"/>
            <a:ext cx="2978810" cy="502920"/>
          </a:xfrm>
          <a:prstGeom prst="rect">
            <a:avLst/>
          </a:prstGeom>
          <a:noFill/>
        </p:spPr>
        <p:txBody>
          <a:bodyPr wrap="square" anchor="t" lIns="0" rIns="0" tIns="0" bIns="0">
            <a:spAutoFit/>
          </a:bodyPr>
          <a:lstStyle/>
          <a:p>
            <a:pPr algn="r" rtl="1">
              <a:lnSpc>
                <a:spcPct val="115000"/>
              </a:lnSpc>
            </a:pPr>
            <a:r>
              <a:rPr sz="1450" b="1">
                <a:solidFill>
                  <a:srgbClr val="0B1B33"/>
                </a:solidFill>
                <a:latin typeface="Tahoma"/>
                <a:ea typeface="Tahoma"/>
                <a:cs typeface="Tahoma"/>
              </a:rPr>
              <a:t>صعوبة معرفة أفضل مصدر للعملاء</a:t>
            </a:r>
          </a:p>
        </p:txBody>
      </p:sp>
      <p:sp>
        <p:nvSpPr>
          <p:cNvPr id="29" name="TextBox 28"/>
          <p:cNvSpPr txBox="1"/>
          <p:nvPr/>
        </p:nvSpPr>
        <p:spPr>
          <a:xfrm>
            <a:off x="8298484" y="5605272"/>
            <a:ext cx="2978810" cy="502920"/>
          </a:xfrm>
          <a:prstGeom prst="rect">
            <a:avLst/>
          </a:prstGeom>
          <a:noFill/>
        </p:spPr>
        <p:txBody>
          <a:bodyPr wrap="square" anchor="t" lIns="0" rIns="0" tIns="0" bIns="0">
            <a:spAutoFit/>
          </a:bodyPr>
          <a:lstStyle/>
          <a:p>
            <a:pPr algn="r" rtl="1">
              <a:lnSpc>
                <a:spcPct val="125000"/>
              </a:lnSpc>
            </a:pPr>
            <a:r>
              <a:rPr sz="1050" b="0">
                <a:solidFill>
                  <a:srgbClr val="636E80"/>
                </a:solidFill>
                <a:latin typeface="Tahoma"/>
                <a:ea typeface="Tahoma"/>
                <a:cs typeface="Tahoma"/>
              </a:rPr>
              <a:t>لا توجد بيانات واضحة لتوجيه ميزانية التسويق بذكاء</a:t>
            </a:r>
          </a:p>
        </p:txBody>
      </p:sp>
      <p:sp>
        <p:nvSpPr>
          <p:cNvPr id="30" name="Rounded Rectangle 29"/>
          <p:cNvSpPr/>
          <p:nvPr/>
        </p:nvSpPr>
        <p:spPr>
          <a:xfrm>
            <a:off x="4377842" y="4187952"/>
            <a:ext cx="3436010" cy="1965960"/>
          </a:xfrm>
          <a:prstGeom prst="roundRect">
            <a:avLst>
              <a:gd name="adj" fmla="val 7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377842" y="4187952"/>
            <a:ext cx="3436010" cy="64008"/>
          </a:xfrm>
          <a:prstGeom prst="roundRect">
            <a:avLst>
              <a:gd name="adj" fmla="val 50000"/>
            </a:avLst>
          </a:prstGeom>
          <a:solidFill>
            <a:srgbClr val="D64D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c_shield.png"/>
          <p:cNvPicPr>
            <a:picLocks noChangeAspect="1"/>
          </p:cNvPicPr>
          <p:nvPr/>
        </p:nvPicPr>
        <p:blipFill>
          <a:blip r:embed="rId7"/>
          <a:stretch>
            <a:fillRect/>
          </a:stretch>
        </p:blipFill>
        <p:spPr>
          <a:xfrm>
            <a:off x="6990892" y="4443984"/>
            <a:ext cx="566928" cy="566928"/>
          </a:xfrm>
          <a:prstGeom prst="rect">
            <a:avLst/>
          </a:prstGeom>
        </p:spPr>
      </p:pic>
      <p:sp>
        <p:nvSpPr>
          <p:cNvPr id="33" name="TextBox 32"/>
          <p:cNvSpPr txBox="1"/>
          <p:nvPr/>
        </p:nvSpPr>
        <p:spPr>
          <a:xfrm>
            <a:off x="4606442" y="5148072"/>
            <a:ext cx="2978810" cy="502920"/>
          </a:xfrm>
          <a:prstGeom prst="rect">
            <a:avLst/>
          </a:prstGeom>
          <a:noFill/>
        </p:spPr>
        <p:txBody>
          <a:bodyPr wrap="square" anchor="t" lIns="0" rIns="0" tIns="0" bIns="0">
            <a:spAutoFit/>
          </a:bodyPr>
          <a:lstStyle/>
          <a:p>
            <a:pPr algn="r" rtl="1">
              <a:lnSpc>
                <a:spcPct val="115000"/>
              </a:lnSpc>
            </a:pPr>
            <a:r>
              <a:rPr sz="1450" b="1">
                <a:solidFill>
                  <a:srgbClr val="0B1B33"/>
                </a:solidFill>
                <a:latin typeface="Tahoma"/>
                <a:ea typeface="Tahoma"/>
                <a:cs typeface="Tahoma"/>
              </a:rPr>
              <a:t>صعوبة متابعة أداء الفروع والمدراء</a:t>
            </a:r>
          </a:p>
        </p:txBody>
      </p:sp>
      <p:sp>
        <p:nvSpPr>
          <p:cNvPr id="34" name="TextBox 33"/>
          <p:cNvSpPr txBox="1"/>
          <p:nvPr/>
        </p:nvSpPr>
        <p:spPr>
          <a:xfrm>
            <a:off x="4606442" y="5605272"/>
            <a:ext cx="2978810" cy="502920"/>
          </a:xfrm>
          <a:prstGeom prst="rect">
            <a:avLst/>
          </a:prstGeom>
          <a:noFill/>
        </p:spPr>
        <p:txBody>
          <a:bodyPr wrap="square" anchor="t" lIns="0" rIns="0" tIns="0" bIns="0">
            <a:spAutoFit/>
          </a:bodyPr>
          <a:lstStyle/>
          <a:p>
            <a:pPr algn="r" rtl="1">
              <a:lnSpc>
                <a:spcPct val="125000"/>
              </a:lnSpc>
            </a:pPr>
            <a:r>
              <a:rPr sz="1050" b="0">
                <a:solidFill>
                  <a:srgbClr val="636E80"/>
                </a:solidFill>
                <a:latin typeface="Tahoma"/>
                <a:ea typeface="Tahoma"/>
                <a:cs typeface="Tahoma"/>
              </a:rPr>
              <a:t>غياب مؤشرات أداء موحدة لكل فرع ومدير مبيعات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الحل المقترح</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مركز قيادة ذكي وموحّد لعمليات المبيعات</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04</a:t>
            </a:r>
          </a:p>
        </p:txBody>
      </p:sp>
      <p:sp>
        <p:nvSpPr>
          <p:cNvPr id="10" name="Rounded Rectangle 9"/>
          <p:cNvSpPr/>
          <p:nvPr/>
        </p:nvSpPr>
        <p:spPr>
          <a:xfrm>
            <a:off x="8951747" y="1874519"/>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user.png"/>
          <p:cNvPicPr>
            <a:picLocks noChangeAspect="1"/>
          </p:cNvPicPr>
          <p:nvPr/>
        </p:nvPicPr>
        <p:blipFill>
          <a:blip r:embed="rId3"/>
          <a:stretch>
            <a:fillRect/>
          </a:stretch>
        </p:blipFill>
        <p:spPr>
          <a:xfrm>
            <a:off x="10000221" y="2075687"/>
            <a:ext cx="457200" cy="457200"/>
          </a:xfrm>
          <a:prstGeom prst="rect">
            <a:avLst/>
          </a:prstGeom>
        </p:spPr>
      </p:pic>
      <p:sp>
        <p:nvSpPr>
          <p:cNvPr id="12" name="TextBox 11"/>
          <p:cNvSpPr txBox="1"/>
          <p:nvPr/>
        </p:nvSpPr>
        <p:spPr>
          <a:xfrm>
            <a:off x="9024899" y="2651759"/>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إدارة العملاء</a:t>
            </a:r>
          </a:p>
        </p:txBody>
      </p:sp>
      <p:sp>
        <p:nvSpPr>
          <p:cNvPr id="13" name="Rounded Rectangle 12"/>
          <p:cNvSpPr/>
          <p:nvPr/>
        </p:nvSpPr>
        <p:spPr>
          <a:xfrm>
            <a:off x="6196431" y="1874519"/>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funnel.png"/>
          <p:cNvPicPr>
            <a:picLocks noChangeAspect="1"/>
          </p:cNvPicPr>
          <p:nvPr/>
        </p:nvPicPr>
        <p:blipFill>
          <a:blip r:embed="rId4"/>
          <a:stretch>
            <a:fillRect/>
          </a:stretch>
        </p:blipFill>
        <p:spPr>
          <a:xfrm>
            <a:off x="7244905" y="2075687"/>
            <a:ext cx="457200" cy="457200"/>
          </a:xfrm>
          <a:prstGeom prst="rect">
            <a:avLst/>
          </a:prstGeom>
        </p:spPr>
      </p:pic>
      <p:sp>
        <p:nvSpPr>
          <p:cNvPr id="15" name="TextBox 14"/>
          <p:cNvSpPr txBox="1"/>
          <p:nvPr/>
        </p:nvSpPr>
        <p:spPr>
          <a:xfrm>
            <a:off x="6269583" y="2651759"/>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إدارة الصفقات</a:t>
            </a:r>
          </a:p>
        </p:txBody>
      </p:sp>
      <p:sp>
        <p:nvSpPr>
          <p:cNvPr id="16" name="Rounded Rectangle 15"/>
          <p:cNvSpPr/>
          <p:nvPr/>
        </p:nvSpPr>
        <p:spPr>
          <a:xfrm>
            <a:off x="3441115" y="1874519"/>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target.png"/>
          <p:cNvPicPr>
            <a:picLocks noChangeAspect="1"/>
          </p:cNvPicPr>
          <p:nvPr/>
        </p:nvPicPr>
        <p:blipFill>
          <a:blip r:embed="rId5"/>
          <a:stretch>
            <a:fillRect/>
          </a:stretch>
        </p:blipFill>
        <p:spPr>
          <a:xfrm>
            <a:off x="4489589" y="2075687"/>
            <a:ext cx="457200" cy="457200"/>
          </a:xfrm>
          <a:prstGeom prst="rect">
            <a:avLst/>
          </a:prstGeom>
        </p:spPr>
      </p:pic>
      <p:sp>
        <p:nvSpPr>
          <p:cNvPr id="18" name="TextBox 17"/>
          <p:cNvSpPr txBox="1"/>
          <p:nvPr/>
        </p:nvSpPr>
        <p:spPr>
          <a:xfrm>
            <a:off x="3514267" y="2651759"/>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تصنيف العملاء</a:t>
            </a:r>
          </a:p>
        </p:txBody>
      </p:sp>
      <p:sp>
        <p:nvSpPr>
          <p:cNvPr id="19" name="Rounded Rectangle 18"/>
          <p:cNvSpPr/>
          <p:nvPr/>
        </p:nvSpPr>
        <p:spPr>
          <a:xfrm>
            <a:off x="685800" y="1874519"/>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chart.png"/>
          <p:cNvPicPr>
            <a:picLocks noChangeAspect="1"/>
          </p:cNvPicPr>
          <p:nvPr/>
        </p:nvPicPr>
        <p:blipFill>
          <a:blip r:embed="rId6"/>
          <a:stretch>
            <a:fillRect/>
          </a:stretch>
        </p:blipFill>
        <p:spPr>
          <a:xfrm>
            <a:off x="1734273" y="2075687"/>
            <a:ext cx="457200" cy="457200"/>
          </a:xfrm>
          <a:prstGeom prst="rect">
            <a:avLst/>
          </a:prstGeom>
        </p:spPr>
      </p:pic>
      <p:sp>
        <p:nvSpPr>
          <p:cNvPr id="21" name="TextBox 20"/>
          <p:cNvSpPr txBox="1"/>
          <p:nvPr/>
        </p:nvSpPr>
        <p:spPr>
          <a:xfrm>
            <a:off x="758952" y="2651759"/>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تتبع مصادر العملاء</a:t>
            </a:r>
          </a:p>
        </p:txBody>
      </p:sp>
      <p:sp>
        <p:nvSpPr>
          <p:cNvPr id="22" name="Rounded Rectangle 21"/>
          <p:cNvSpPr/>
          <p:nvPr/>
        </p:nvSpPr>
        <p:spPr>
          <a:xfrm>
            <a:off x="8951747" y="3447287"/>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branch.png"/>
          <p:cNvPicPr>
            <a:picLocks noChangeAspect="1"/>
          </p:cNvPicPr>
          <p:nvPr/>
        </p:nvPicPr>
        <p:blipFill>
          <a:blip r:embed="rId7"/>
          <a:stretch>
            <a:fillRect/>
          </a:stretch>
        </p:blipFill>
        <p:spPr>
          <a:xfrm>
            <a:off x="10000221" y="3648455"/>
            <a:ext cx="457200" cy="457200"/>
          </a:xfrm>
          <a:prstGeom prst="rect">
            <a:avLst/>
          </a:prstGeom>
        </p:spPr>
      </p:pic>
      <p:sp>
        <p:nvSpPr>
          <p:cNvPr id="24" name="TextBox 23"/>
          <p:cNvSpPr txBox="1"/>
          <p:nvPr/>
        </p:nvSpPr>
        <p:spPr>
          <a:xfrm>
            <a:off x="9024899" y="4224527"/>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توزيع تلقائي حسب الفرع</a:t>
            </a:r>
          </a:p>
        </p:txBody>
      </p:sp>
      <p:sp>
        <p:nvSpPr>
          <p:cNvPr id="25" name="Rounded Rectangle 24"/>
          <p:cNvSpPr/>
          <p:nvPr/>
        </p:nvSpPr>
        <p:spPr>
          <a:xfrm>
            <a:off x="6196431" y="3447287"/>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c_bell.png"/>
          <p:cNvPicPr>
            <a:picLocks noChangeAspect="1"/>
          </p:cNvPicPr>
          <p:nvPr/>
        </p:nvPicPr>
        <p:blipFill>
          <a:blip r:embed="rId8"/>
          <a:stretch>
            <a:fillRect/>
          </a:stretch>
        </p:blipFill>
        <p:spPr>
          <a:xfrm>
            <a:off x="7244905" y="3648455"/>
            <a:ext cx="457200" cy="457200"/>
          </a:xfrm>
          <a:prstGeom prst="rect">
            <a:avLst/>
          </a:prstGeom>
        </p:spPr>
      </p:pic>
      <p:sp>
        <p:nvSpPr>
          <p:cNvPr id="27" name="TextBox 26"/>
          <p:cNvSpPr txBox="1"/>
          <p:nvPr/>
        </p:nvSpPr>
        <p:spPr>
          <a:xfrm>
            <a:off x="6269583" y="4224527"/>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تنبيهات واتساب وإيميل</a:t>
            </a:r>
          </a:p>
        </p:txBody>
      </p:sp>
      <p:sp>
        <p:nvSpPr>
          <p:cNvPr id="28" name="Rounded Rectangle 27"/>
          <p:cNvSpPr/>
          <p:nvPr/>
        </p:nvSpPr>
        <p:spPr>
          <a:xfrm>
            <a:off x="3441115" y="3447287"/>
            <a:ext cx="2554147" cy="1371600"/>
          </a:xfrm>
          <a:prstGeom prst="roundRect">
            <a:avLst>
              <a:gd name="adj" fmla="val 10000"/>
            </a:avLst>
          </a:prstGeom>
          <a:solidFill>
            <a:srgbClr val="FFFFFF"/>
          </a:solidFill>
          <a:ln w="1524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ai_chip.png"/>
          <p:cNvPicPr>
            <a:picLocks noChangeAspect="1"/>
          </p:cNvPicPr>
          <p:nvPr/>
        </p:nvPicPr>
        <p:blipFill>
          <a:blip r:embed="rId9"/>
          <a:stretch>
            <a:fillRect/>
          </a:stretch>
        </p:blipFill>
        <p:spPr>
          <a:xfrm>
            <a:off x="4489589" y="3648455"/>
            <a:ext cx="457200" cy="457200"/>
          </a:xfrm>
          <a:prstGeom prst="rect">
            <a:avLst/>
          </a:prstGeom>
        </p:spPr>
      </p:pic>
      <p:sp>
        <p:nvSpPr>
          <p:cNvPr id="30" name="TextBox 29"/>
          <p:cNvSpPr txBox="1"/>
          <p:nvPr/>
        </p:nvSpPr>
        <p:spPr>
          <a:xfrm>
            <a:off x="3514267" y="4224527"/>
            <a:ext cx="2407843" cy="502920"/>
          </a:xfrm>
          <a:prstGeom prst="rect">
            <a:avLst/>
          </a:prstGeom>
          <a:noFill/>
        </p:spPr>
        <p:txBody>
          <a:bodyPr wrap="square" anchor="t" lIns="0" rIns="0" tIns="0" bIns="0">
            <a:spAutoFit/>
          </a:bodyPr>
          <a:lstStyle/>
          <a:p>
            <a:pPr algn="ctr" rtl="1">
              <a:lnSpc>
                <a:spcPct val="110000"/>
              </a:lnSpc>
            </a:pPr>
            <a:r>
              <a:rPr sz="1250" b="1">
                <a:solidFill>
                  <a:srgbClr val="0B1B33"/>
                </a:solidFill>
                <a:latin typeface="Tahoma"/>
                <a:ea typeface="Tahoma"/>
                <a:cs typeface="Tahoma"/>
              </a:rPr>
              <a:t>ذكاء اصطناعي لتحليل العملاء</a:t>
            </a:r>
          </a:p>
        </p:txBody>
      </p:sp>
      <p:sp>
        <p:nvSpPr>
          <p:cNvPr id="31" name="Rounded Rectangle 30"/>
          <p:cNvSpPr/>
          <p:nvPr/>
        </p:nvSpPr>
        <p:spPr>
          <a:xfrm>
            <a:off x="685800" y="5157215"/>
            <a:ext cx="10820095" cy="566928"/>
          </a:xfrm>
          <a:prstGeom prst="roundRect">
            <a:avLst>
              <a:gd name="adj" fmla="val 15000"/>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5157215"/>
            <a:ext cx="10271455" cy="566928"/>
          </a:xfrm>
          <a:prstGeom prst="rect">
            <a:avLst/>
          </a:prstGeom>
          <a:noFill/>
        </p:spPr>
        <p:txBody>
          <a:bodyPr wrap="square" anchor="ctr" lIns="0" rIns="0" tIns="0" bIns="0">
            <a:spAutoFit/>
          </a:bodyPr>
          <a:lstStyle/>
          <a:p>
            <a:pPr algn="ctr" rtl="1">
              <a:lnSpc>
                <a:spcPct val="115000"/>
              </a:lnSpc>
            </a:pPr>
            <a:r>
              <a:rPr sz="1300" b="1">
                <a:solidFill>
                  <a:srgbClr val="FFFFFF"/>
                </a:solidFill>
                <a:latin typeface="Tahoma"/>
                <a:ea typeface="Tahoma"/>
                <a:cs typeface="Tahoma"/>
              </a:rPr>
              <a:t>كل هذا من لوحة تحكم واحدة، تربط جميع الفروع بمركز قيادة ذكي وموحّد لعمليات المبيعات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رحلة العميل</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من أول تواصل حتى إغلاق الصفقة</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26464"/>
            <a:ext cx="9601200" cy="365760"/>
          </a:xfrm>
          <a:prstGeom prst="rect">
            <a:avLst/>
          </a:prstGeom>
          <a:noFill/>
        </p:spPr>
        <p:txBody>
          <a:bodyPr wrap="square" anchor="t" lIns="0" rIns="0" tIns="0" bIns="0">
            <a:spAutoFit/>
          </a:bodyPr>
          <a:lstStyle/>
          <a:p>
            <a:pPr algn="r" rtl="1">
              <a:lnSpc>
                <a:spcPct val="115000"/>
              </a:lnSpc>
            </a:pPr>
            <a:r>
              <a:rPr sz="1300" b="0">
                <a:solidFill>
                  <a:srgbClr val="636E80"/>
                </a:solidFill>
                <a:latin typeface="Tahoma"/>
                <a:ea typeface="Tahoma"/>
                <a:cs typeface="Tahoma"/>
              </a:rPr>
              <a:t>مصدر العميل ← تسجيل تلقائي ← تحليل وتصنيف ← إرسال للفرع المناسب ← متابعة ← عرض سعر ← إغلاق الصفقة</a:t>
            </a:r>
          </a:p>
        </p:txBody>
      </p:sp>
      <p:sp>
        <p:nvSpPr>
          <p:cNvPr id="9" name="TextBox 8"/>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10" name="TextBox 9"/>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05</a:t>
            </a:r>
          </a:p>
        </p:txBody>
      </p:sp>
      <p:pic>
        <p:nvPicPr>
          <p:cNvPr id="11" name="Picture 10" descr="lead_journey.png"/>
          <p:cNvPicPr>
            <a:picLocks noChangeAspect="1"/>
          </p:cNvPicPr>
          <p:nvPr/>
        </p:nvPicPr>
        <p:blipFill>
          <a:blip r:embed="rId3"/>
          <a:stretch>
            <a:fillRect/>
          </a:stretch>
        </p:blipFill>
        <p:spPr>
          <a:xfrm>
            <a:off x="838047" y="2331720"/>
            <a:ext cx="10515600" cy="3106881"/>
          </a:xfrm>
          <a:prstGeom prst="rect">
            <a:avLst/>
          </a:prstGeom>
        </p:spPr>
      </p:pic>
      <p:sp>
        <p:nvSpPr>
          <p:cNvPr id="12" name="Rounded Rectangle 11"/>
          <p:cNvSpPr/>
          <p:nvPr/>
        </p:nvSpPr>
        <p:spPr>
          <a:xfrm>
            <a:off x="685800" y="5349240"/>
            <a:ext cx="10820095" cy="82296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49240"/>
            <a:ext cx="10180015" cy="822960"/>
          </a:xfrm>
          <a:prstGeom prst="rect">
            <a:avLst/>
          </a:prstGeom>
          <a:noFill/>
        </p:spPr>
        <p:txBody>
          <a:bodyPr wrap="square" anchor="ctr" lIns="0" rIns="0" tIns="0" bIns="0">
            <a:spAutoFit/>
          </a:bodyPr>
          <a:lstStyle/>
          <a:p>
            <a:pPr algn="ctr" rtl="1">
              <a:lnSpc>
                <a:spcPct val="130000"/>
              </a:lnSpc>
            </a:pPr>
            <a:r>
              <a:rPr sz="1350" b="0">
                <a:solidFill>
                  <a:srgbClr val="0B1B33"/>
                </a:solidFill>
                <a:latin typeface="Tahoma"/>
                <a:ea typeface="Tahoma"/>
                <a:cs typeface="Tahoma"/>
              </a:rPr>
              <a:t>كل خطوة تحدث تلقائيًا داخل النظام دون تدخل يدوي — من لحظة وصول العميل وحتى تسليمه لأنسب فرع ومدير مبيعات</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تصنيف العملاء بالذكاء الاصطناعي</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كل عميل يُصنَّف تلقائيًا حسب جاهزيته للشراء</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06</a:t>
            </a:r>
          </a:p>
        </p:txBody>
      </p:sp>
      <p:pic>
        <p:nvPicPr>
          <p:cNvPr id="10" name="Picture 9" descr="classification.png"/>
          <p:cNvPicPr>
            <a:picLocks noChangeAspect="1"/>
          </p:cNvPicPr>
          <p:nvPr/>
        </p:nvPicPr>
        <p:blipFill>
          <a:blip r:embed="rId3"/>
          <a:stretch>
            <a:fillRect/>
          </a:stretch>
        </p:blipFill>
        <p:spPr>
          <a:xfrm>
            <a:off x="838047" y="1874519"/>
            <a:ext cx="10515600" cy="382385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لوحة مصادر العملاء</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تتبّع دقيق لكل قناة يأتي منها العميل</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26464"/>
            <a:ext cx="9601200" cy="365760"/>
          </a:xfrm>
          <a:prstGeom prst="rect">
            <a:avLst/>
          </a:prstGeom>
          <a:noFill/>
        </p:spPr>
        <p:txBody>
          <a:bodyPr wrap="square" anchor="t" lIns="0" rIns="0" tIns="0" bIns="0">
            <a:spAutoFit/>
          </a:bodyPr>
          <a:lstStyle/>
          <a:p>
            <a:pPr algn="r" rtl="1">
              <a:lnSpc>
                <a:spcPct val="115000"/>
              </a:lnSpc>
            </a:pPr>
            <a:r>
              <a:rPr sz="1300" b="0">
                <a:solidFill>
                  <a:srgbClr val="636E80"/>
                </a:solidFill>
                <a:latin typeface="Tahoma"/>
                <a:ea typeface="Tahoma"/>
                <a:cs typeface="Tahoma"/>
              </a:rPr>
              <a:t>واتساب، نماذج الموقع، فيسبوك، انستقرام، إكس، اتصال هاتفي، ترشيح عميل، زيارة فرع</a:t>
            </a:r>
          </a:p>
        </p:txBody>
      </p:sp>
      <p:sp>
        <p:nvSpPr>
          <p:cNvPr id="9" name="TextBox 8"/>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10" name="TextBox 9"/>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07</a:t>
            </a:r>
          </a:p>
        </p:txBody>
      </p:sp>
      <p:pic>
        <p:nvPicPr>
          <p:cNvPr id="11" name="Picture 10" descr="lead_sources.png"/>
          <p:cNvPicPr>
            <a:picLocks noChangeAspect="1"/>
          </p:cNvPicPr>
          <p:nvPr/>
        </p:nvPicPr>
        <p:blipFill>
          <a:blip r:embed="rId3"/>
          <a:stretch>
            <a:fillRect/>
          </a:stretch>
        </p:blipFill>
        <p:spPr>
          <a:xfrm>
            <a:off x="1580743" y="1783080"/>
            <a:ext cx="9030208" cy="46177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التوزيع الذكي على الفروع</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العميل يصل تلقائيًا لمدير المبيعات الصحيح</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08</a:t>
            </a:r>
          </a:p>
        </p:txBody>
      </p:sp>
      <p:pic>
        <p:nvPicPr>
          <p:cNvPr id="10" name="Picture 9" descr="branch_routing.png"/>
          <p:cNvPicPr>
            <a:picLocks noChangeAspect="1"/>
          </p:cNvPicPr>
          <p:nvPr/>
        </p:nvPicPr>
        <p:blipFill>
          <a:blip r:embed="rId3"/>
          <a:stretch>
            <a:fillRect/>
          </a:stretch>
        </p:blipFill>
        <p:spPr>
          <a:xfrm>
            <a:off x="1706727" y="1691640"/>
            <a:ext cx="8778240" cy="4289367"/>
          </a:xfrm>
          <a:prstGeom prst="rect">
            <a:avLst/>
          </a:prstGeom>
        </p:spPr>
      </p:pic>
      <p:sp>
        <p:nvSpPr>
          <p:cNvPr id="11" name="Rounded Rectangle 10"/>
          <p:cNvSpPr/>
          <p:nvPr/>
        </p:nvSpPr>
        <p:spPr>
          <a:xfrm>
            <a:off x="9863633" y="5989320"/>
            <a:ext cx="1642262" cy="365760"/>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63633" y="5989320"/>
            <a:ext cx="1642262" cy="365760"/>
          </a:xfrm>
          <a:prstGeom prst="rect">
            <a:avLst/>
          </a:prstGeom>
          <a:noFill/>
        </p:spPr>
        <p:txBody>
          <a:bodyPr wrap="square" anchor="ctr" lIns="0" rIns="0" tIns="0" bIns="0">
            <a:spAutoFit/>
          </a:bodyPr>
          <a:lstStyle/>
          <a:p>
            <a:pPr algn="ctr" rtl="1">
              <a:lnSpc>
                <a:spcPct val="115000"/>
              </a:lnSpc>
            </a:pPr>
            <a:r>
              <a:rPr sz="1050" b="1">
                <a:solidFill>
                  <a:srgbClr val="0B1B33"/>
                </a:solidFill>
                <a:latin typeface="Tahoma"/>
                <a:ea typeface="Tahoma"/>
                <a:cs typeface="Tahoma"/>
              </a:rPr>
              <a:t>تنبيه واتساب فوري</a:t>
            </a:r>
          </a:p>
        </p:txBody>
      </p:sp>
      <p:sp>
        <p:nvSpPr>
          <p:cNvPr id="13" name="Rounded Rectangle 12"/>
          <p:cNvSpPr/>
          <p:nvPr/>
        </p:nvSpPr>
        <p:spPr>
          <a:xfrm>
            <a:off x="7932421" y="5989320"/>
            <a:ext cx="1803196" cy="365760"/>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32421" y="5989320"/>
            <a:ext cx="1803196" cy="365760"/>
          </a:xfrm>
          <a:prstGeom prst="rect">
            <a:avLst/>
          </a:prstGeom>
          <a:noFill/>
        </p:spPr>
        <p:txBody>
          <a:bodyPr wrap="square" anchor="ctr" lIns="0" rIns="0" tIns="0" bIns="0">
            <a:spAutoFit/>
          </a:bodyPr>
          <a:lstStyle/>
          <a:p>
            <a:pPr algn="ctr" rtl="1">
              <a:lnSpc>
                <a:spcPct val="115000"/>
              </a:lnSpc>
            </a:pPr>
            <a:r>
              <a:rPr sz="1050" b="1">
                <a:solidFill>
                  <a:srgbClr val="0B1B33"/>
                </a:solidFill>
                <a:latin typeface="Tahoma"/>
                <a:ea typeface="Tahoma"/>
                <a:cs typeface="Tahoma"/>
              </a:rPr>
              <a:t>تنبيه بريد إلكتروني</a:t>
            </a:r>
          </a:p>
        </p:txBody>
      </p:sp>
      <p:sp>
        <p:nvSpPr>
          <p:cNvPr id="15" name="Rounded Rectangle 14"/>
          <p:cNvSpPr/>
          <p:nvPr/>
        </p:nvSpPr>
        <p:spPr>
          <a:xfrm>
            <a:off x="5840274" y="5989320"/>
            <a:ext cx="1964131" cy="365760"/>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40274" y="5989320"/>
            <a:ext cx="1964131" cy="365760"/>
          </a:xfrm>
          <a:prstGeom prst="rect">
            <a:avLst/>
          </a:prstGeom>
          <a:noFill/>
        </p:spPr>
        <p:txBody>
          <a:bodyPr wrap="square" anchor="ctr" lIns="0" rIns="0" tIns="0" bIns="0">
            <a:spAutoFit/>
          </a:bodyPr>
          <a:lstStyle/>
          <a:p>
            <a:pPr algn="ctr" rtl="1">
              <a:lnSpc>
                <a:spcPct val="115000"/>
              </a:lnSpc>
            </a:pPr>
            <a:r>
              <a:rPr sz="1050" b="1">
                <a:solidFill>
                  <a:srgbClr val="0B1B33"/>
                </a:solidFill>
                <a:latin typeface="Tahoma"/>
                <a:ea typeface="Tahoma"/>
                <a:cs typeface="Tahoma"/>
              </a:rPr>
              <a:t>مهمة داخلية في النظام</a:t>
            </a:r>
          </a:p>
        </p:txBody>
      </p:sp>
      <p:sp>
        <p:nvSpPr>
          <p:cNvPr id="17" name="Rounded Rectangle 16"/>
          <p:cNvSpPr/>
          <p:nvPr/>
        </p:nvSpPr>
        <p:spPr>
          <a:xfrm>
            <a:off x="3426259" y="5989320"/>
            <a:ext cx="2285999" cy="365760"/>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6259" y="5989320"/>
            <a:ext cx="2285999" cy="365760"/>
          </a:xfrm>
          <a:prstGeom prst="rect">
            <a:avLst/>
          </a:prstGeom>
          <a:noFill/>
        </p:spPr>
        <p:txBody>
          <a:bodyPr wrap="square" anchor="ctr" lIns="0" rIns="0" tIns="0" bIns="0">
            <a:spAutoFit/>
          </a:bodyPr>
          <a:lstStyle/>
          <a:p>
            <a:pPr algn="ctr" rtl="1">
              <a:lnSpc>
                <a:spcPct val="115000"/>
              </a:lnSpc>
            </a:pPr>
            <a:r>
              <a:rPr sz="1050" b="1">
                <a:solidFill>
                  <a:srgbClr val="0B1B33"/>
                </a:solidFill>
                <a:latin typeface="Tahoma"/>
                <a:ea typeface="Tahoma"/>
                <a:cs typeface="Tahoma"/>
              </a:rPr>
              <a:t>تصعيد تلقائي عند عدم الرد</a:t>
            </a:r>
          </a:p>
        </p:txBody>
      </p:sp>
      <p:sp>
        <p:nvSpPr>
          <p:cNvPr id="19" name="Rounded Rectangle 18"/>
          <p:cNvSpPr/>
          <p:nvPr/>
        </p:nvSpPr>
        <p:spPr>
          <a:xfrm>
            <a:off x="770842" y="5989320"/>
            <a:ext cx="2527401" cy="365760"/>
          </a:xfrm>
          <a:prstGeom prst="roundRect">
            <a:avLst>
              <a:gd name="adj" fmla="val 50000"/>
            </a:avLst>
          </a:prstGeom>
          <a:solidFill>
            <a:srgbClr val="F7F7F5"/>
          </a:solidFill>
          <a:ln w="12700">
            <a:solidFill>
              <a:srgbClr val="EDEF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0842" y="5989320"/>
            <a:ext cx="2527401" cy="365760"/>
          </a:xfrm>
          <a:prstGeom prst="rect">
            <a:avLst/>
          </a:prstGeom>
          <a:noFill/>
        </p:spPr>
        <p:txBody>
          <a:bodyPr wrap="square" anchor="ctr" lIns="0" rIns="0" tIns="0" bIns="0">
            <a:spAutoFit/>
          </a:bodyPr>
          <a:lstStyle/>
          <a:p>
            <a:pPr algn="ctr" rtl="1">
              <a:lnSpc>
                <a:spcPct val="115000"/>
              </a:lnSpc>
            </a:pPr>
            <a:r>
              <a:rPr sz="1050" b="1">
                <a:solidFill>
                  <a:srgbClr val="0B1B33"/>
                </a:solidFill>
                <a:latin typeface="Tahoma"/>
                <a:ea typeface="Tahoma"/>
                <a:cs typeface="Tahoma"/>
              </a:rPr>
              <a:t>إعادة توزيع عند انشغال الفرع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الرد الآلي الذكي</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مساعد ذكي يتفاعل مع العملاء فور وصولهم</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09</a:t>
            </a:r>
          </a:p>
        </p:txBody>
      </p:sp>
      <p:sp>
        <p:nvSpPr>
          <p:cNvPr id="10" name="Rounded Rectangle 9"/>
          <p:cNvSpPr/>
          <p:nvPr/>
        </p:nvSpPr>
        <p:spPr>
          <a:xfrm>
            <a:off x="5678424" y="2048256"/>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يرد على استفسارات العملاء تلقائيًا</a:t>
            </a:r>
          </a:p>
        </p:txBody>
      </p:sp>
      <p:sp>
        <p:nvSpPr>
          <p:cNvPr id="12" name="Rounded Rectangle 11"/>
          <p:cNvSpPr/>
          <p:nvPr/>
        </p:nvSpPr>
        <p:spPr>
          <a:xfrm>
            <a:off x="5678424" y="2635504"/>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53208"/>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يسأل العميل عن احتياجه بدقة</a:t>
            </a:r>
          </a:p>
        </p:txBody>
      </p:sp>
      <p:sp>
        <p:nvSpPr>
          <p:cNvPr id="14" name="Rounded Rectangle 13"/>
          <p:cNvSpPr/>
          <p:nvPr/>
        </p:nvSpPr>
        <p:spPr>
          <a:xfrm>
            <a:off x="5678424" y="3222752"/>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40456"/>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يجمع البيانات المهمة عن الفرصة</a:t>
            </a:r>
          </a:p>
        </p:txBody>
      </p:sp>
      <p:sp>
        <p:nvSpPr>
          <p:cNvPr id="16" name="Rounded Rectangle 15"/>
          <p:cNvSpPr/>
          <p:nvPr/>
        </p:nvSpPr>
        <p:spPr>
          <a:xfrm>
            <a:off x="5678424" y="3810000"/>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27704"/>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يقترح المنتج أو الخدمة المناسبة</a:t>
            </a:r>
          </a:p>
        </p:txBody>
      </p:sp>
      <p:sp>
        <p:nvSpPr>
          <p:cNvPr id="18" name="Rounded Rectangle 17"/>
          <p:cNvSpPr/>
          <p:nvPr/>
        </p:nvSpPr>
        <p:spPr>
          <a:xfrm>
            <a:off x="5678424" y="4397248"/>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14952"/>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يحجز موعدًا أو يفتح فرصة مبيعات</a:t>
            </a:r>
          </a:p>
        </p:txBody>
      </p:sp>
      <p:sp>
        <p:nvSpPr>
          <p:cNvPr id="20" name="Rounded Rectangle 19"/>
          <p:cNvSpPr/>
          <p:nvPr/>
        </p:nvSpPr>
        <p:spPr>
          <a:xfrm>
            <a:off x="5678424" y="4984496"/>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4902200"/>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يسلّم المحادثة للموظف عند الحاجة</a:t>
            </a:r>
          </a:p>
        </p:txBody>
      </p:sp>
      <p:sp>
        <p:nvSpPr>
          <p:cNvPr id="22" name="Rounded Rectangle 21"/>
          <p:cNvSpPr/>
          <p:nvPr/>
        </p:nvSpPr>
        <p:spPr>
          <a:xfrm>
            <a:off x="685800" y="5623560"/>
            <a:ext cx="5120640" cy="685800"/>
          </a:xfrm>
          <a:prstGeom prst="roundRect">
            <a:avLst>
              <a:gd name="adj" fmla="val 15000"/>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23560"/>
            <a:ext cx="4663440" cy="685800"/>
          </a:xfrm>
          <a:prstGeom prst="rect">
            <a:avLst/>
          </a:prstGeom>
          <a:noFill/>
        </p:spPr>
        <p:txBody>
          <a:bodyPr wrap="square" anchor="ctr" lIns="0" rIns="0" tIns="0" bIns="0">
            <a:spAutoFit/>
          </a:bodyPr>
          <a:lstStyle/>
          <a:p>
            <a:pPr algn="r" rtl="1">
              <a:lnSpc>
                <a:spcPct val="115000"/>
              </a:lnSpc>
            </a:pPr>
            <a:r>
              <a:rPr sz="1300" b="1">
                <a:solidFill>
                  <a:srgbClr val="F2A31B"/>
                </a:solidFill>
                <a:latin typeface="Tahoma"/>
                <a:ea typeface="Tahoma"/>
                <a:cs typeface="Tahoma"/>
              </a:rPr>
              <a:t>المساعد الذكي يدعم فريق المبيعات، ولا يحل محله</a:t>
            </a:r>
          </a:p>
        </p:txBody>
      </p:sp>
      <p:pic>
        <p:nvPicPr>
          <p:cNvPr id="24" name="Picture 23" descr="ai_chat_mockup.png"/>
          <p:cNvPicPr>
            <a:picLocks noChangeAspect="1"/>
          </p:cNvPicPr>
          <p:nvPr/>
        </p:nvPicPr>
        <p:blipFill>
          <a:blip r:embed="rId3"/>
          <a:stretch>
            <a:fillRect/>
          </a:stretch>
        </p:blipFill>
        <p:spPr>
          <a:xfrm>
            <a:off x="8259775" y="1783080"/>
            <a:ext cx="3246120" cy="2524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ميزة متقدمة</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رسائل صوتية ذكية مخصصة لكل عميل</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10</a:t>
            </a:r>
          </a:p>
        </p:txBody>
      </p:sp>
      <p:sp>
        <p:nvSpPr>
          <p:cNvPr id="10" name="Rounded Rectangle 9"/>
          <p:cNvSpPr/>
          <p:nvPr/>
        </p:nvSpPr>
        <p:spPr>
          <a:xfrm>
            <a:off x="5678424" y="2048256"/>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رسالة ترحيب عند أول تواصل</a:t>
            </a:r>
          </a:p>
        </p:txBody>
      </p:sp>
      <p:sp>
        <p:nvSpPr>
          <p:cNvPr id="12" name="Rounded Rectangle 11"/>
          <p:cNvSpPr/>
          <p:nvPr/>
        </p:nvSpPr>
        <p:spPr>
          <a:xfrm>
            <a:off x="5678424" y="2635504"/>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553208"/>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متابعة صوتية بعد الاستفسار</a:t>
            </a:r>
          </a:p>
        </p:txBody>
      </p:sp>
      <p:sp>
        <p:nvSpPr>
          <p:cNvPr id="14" name="Rounded Rectangle 13"/>
          <p:cNvSpPr/>
          <p:nvPr/>
        </p:nvSpPr>
        <p:spPr>
          <a:xfrm>
            <a:off x="5678424" y="3222752"/>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40456"/>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تذكير صوتي بموعد قريب</a:t>
            </a:r>
          </a:p>
        </p:txBody>
      </p:sp>
      <p:sp>
        <p:nvSpPr>
          <p:cNvPr id="16" name="Rounded Rectangle 15"/>
          <p:cNvSpPr/>
          <p:nvPr/>
        </p:nvSpPr>
        <p:spPr>
          <a:xfrm>
            <a:off x="5678424" y="3810000"/>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727704"/>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شرح مختصر للعرض المقدَّم</a:t>
            </a:r>
          </a:p>
        </p:txBody>
      </p:sp>
      <p:sp>
        <p:nvSpPr>
          <p:cNvPr id="18" name="Rounded Rectangle 17"/>
          <p:cNvSpPr/>
          <p:nvPr/>
        </p:nvSpPr>
        <p:spPr>
          <a:xfrm>
            <a:off x="5678424" y="4397248"/>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314952"/>
            <a:ext cx="4846320" cy="384048"/>
          </a:xfrm>
          <a:prstGeom prst="rect">
            <a:avLst/>
          </a:prstGeom>
          <a:noFill/>
        </p:spPr>
        <p:txBody>
          <a:bodyPr wrap="square" lIns="0" rIns="0" tIns="0" bIns="0">
            <a:spAutoFit/>
          </a:bodyPr>
          <a:lstStyle/>
          <a:p>
            <a:pPr algn="r" rtl="1">
              <a:lnSpc>
                <a:spcPct val="120000"/>
              </a:lnSpc>
            </a:pPr>
            <a:r>
              <a:rPr sz="1500" b="0">
                <a:solidFill>
                  <a:srgbClr val="0B1B33"/>
                </a:solidFill>
                <a:latin typeface="Tahoma"/>
                <a:ea typeface="Tahoma"/>
                <a:cs typeface="Tahoma"/>
              </a:rPr>
              <a:t>رسالة متابعة بعد عدم الرد</a:t>
            </a:r>
          </a:p>
        </p:txBody>
      </p:sp>
      <p:sp>
        <p:nvSpPr>
          <p:cNvPr id="20" name="TextBox 19"/>
          <p:cNvSpPr txBox="1"/>
          <p:nvPr/>
        </p:nvSpPr>
        <p:spPr>
          <a:xfrm>
            <a:off x="685800" y="5440680"/>
            <a:ext cx="5120640" cy="868680"/>
          </a:xfrm>
          <a:prstGeom prst="rect">
            <a:avLst/>
          </a:prstGeom>
          <a:noFill/>
        </p:spPr>
        <p:txBody>
          <a:bodyPr wrap="square" anchor="t" lIns="0" rIns="0" tIns="0" bIns="0">
            <a:spAutoFit/>
          </a:bodyPr>
          <a:lstStyle/>
          <a:p>
            <a:pPr algn="r" rtl="1">
              <a:lnSpc>
                <a:spcPct val="135000"/>
              </a:lnSpc>
            </a:pPr>
            <a:r>
              <a:rPr sz="1150" b="0">
                <a:solidFill>
                  <a:srgbClr val="636E80"/>
                </a:solidFill>
                <a:latin typeface="Tahoma"/>
                <a:ea typeface="Tahoma"/>
                <a:cs typeface="Tahoma"/>
              </a:rPr>
              <a:t>يمكن ربط هذه الميزة عبر مزوّدي مراسلة معتمدين حسب إعداد واتساب بزنس الخاص بالعميل</a:t>
            </a:r>
          </a:p>
        </p:txBody>
      </p:sp>
      <p:pic>
        <p:nvPicPr>
          <p:cNvPr id="21" name="Picture 20" descr="ai_voice_mockup.png"/>
          <p:cNvPicPr>
            <a:picLocks noChangeAspect="1"/>
          </p:cNvPicPr>
          <p:nvPr/>
        </p:nvPicPr>
        <p:blipFill>
          <a:blip r:embed="rId3"/>
          <a:stretch>
            <a:fillRect/>
          </a:stretch>
        </p:blipFill>
        <p:spPr>
          <a:xfrm>
            <a:off x="8259775" y="1691640"/>
            <a:ext cx="3246120" cy="34625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تحليل ذكي للعملاء</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الذكاء الاصطناعي يقرأ كل محادثة ويوجّه فريق المبيعات</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11</a:t>
            </a:r>
          </a:p>
        </p:txBody>
      </p:sp>
      <p:pic>
        <p:nvPicPr>
          <p:cNvPr id="10" name="Picture 9" descr="ai_analysis.png"/>
          <p:cNvPicPr>
            <a:picLocks noChangeAspect="1"/>
          </p:cNvPicPr>
          <p:nvPr/>
        </p:nvPicPr>
        <p:blipFill>
          <a:blip r:embed="rId3"/>
          <a:stretch>
            <a:fillRect/>
          </a:stretch>
        </p:blipFill>
        <p:spPr>
          <a:xfrm>
            <a:off x="1066647" y="1828800"/>
            <a:ext cx="10058400" cy="43434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الأثر على المبيعات</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كيف يرفع النظام كفاءة فريق المبيعات</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12</a:t>
            </a:r>
          </a:p>
        </p:txBody>
      </p:sp>
      <p:sp>
        <p:nvSpPr>
          <p:cNvPr id="10" name="Rounded Rectangle 9"/>
          <p:cNvSpPr/>
          <p:nvPr/>
        </p:nvSpPr>
        <p:spPr>
          <a:xfrm>
            <a:off x="6233007" y="1920240"/>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clock.png"/>
          <p:cNvPicPr>
            <a:picLocks noChangeAspect="1"/>
          </p:cNvPicPr>
          <p:nvPr/>
        </p:nvPicPr>
        <p:blipFill>
          <a:blip r:embed="rId3"/>
          <a:stretch>
            <a:fillRect/>
          </a:stretch>
        </p:blipFill>
        <p:spPr>
          <a:xfrm>
            <a:off x="10792663" y="2144268"/>
            <a:ext cx="512064" cy="512064"/>
          </a:xfrm>
          <a:prstGeom prst="rect">
            <a:avLst/>
          </a:prstGeom>
        </p:spPr>
      </p:pic>
      <p:sp>
        <p:nvSpPr>
          <p:cNvPr id="12" name="TextBox 11"/>
          <p:cNvSpPr txBox="1"/>
          <p:nvPr/>
        </p:nvSpPr>
        <p:spPr>
          <a:xfrm>
            <a:off x="6415887" y="1920240"/>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تقليل وقت الاستجابة</a:t>
            </a:r>
          </a:p>
        </p:txBody>
      </p:sp>
      <p:sp>
        <p:nvSpPr>
          <p:cNvPr id="13" name="Rounded Rectangle 12"/>
          <p:cNvSpPr/>
          <p:nvPr/>
        </p:nvSpPr>
        <p:spPr>
          <a:xfrm>
            <a:off x="685800" y="1920240"/>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branch.png"/>
          <p:cNvPicPr>
            <a:picLocks noChangeAspect="1"/>
          </p:cNvPicPr>
          <p:nvPr/>
        </p:nvPicPr>
        <p:blipFill>
          <a:blip r:embed="rId4"/>
          <a:stretch>
            <a:fillRect/>
          </a:stretch>
        </p:blipFill>
        <p:spPr>
          <a:xfrm>
            <a:off x="5245455" y="2144268"/>
            <a:ext cx="512064" cy="512064"/>
          </a:xfrm>
          <a:prstGeom prst="rect">
            <a:avLst/>
          </a:prstGeom>
        </p:spPr>
      </p:pic>
      <p:sp>
        <p:nvSpPr>
          <p:cNvPr id="15" name="TextBox 14"/>
          <p:cNvSpPr txBox="1"/>
          <p:nvPr/>
        </p:nvSpPr>
        <p:spPr>
          <a:xfrm>
            <a:off x="868680" y="1920240"/>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عدم ضياع العملاء بين الفروع</a:t>
            </a:r>
          </a:p>
        </p:txBody>
      </p:sp>
      <p:sp>
        <p:nvSpPr>
          <p:cNvPr id="16" name="Rounded Rectangle 15"/>
          <p:cNvSpPr/>
          <p:nvPr/>
        </p:nvSpPr>
        <p:spPr>
          <a:xfrm>
            <a:off x="6233007" y="3081528"/>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task.png"/>
          <p:cNvPicPr>
            <a:picLocks noChangeAspect="1"/>
          </p:cNvPicPr>
          <p:nvPr/>
        </p:nvPicPr>
        <p:blipFill>
          <a:blip r:embed="rId5"/>
          <a:stretch>
            <a:fillRect/>
          </a:stretch>
        </p:blipFill>
        <p:spPr>
          <a:xfrm>
            <a:off x="10792663" y="3305556"/>
            <a:ext cx="512064" cy="512064"/>
          </a:xfrm>
          <a:prstGeom prst="rect">
            <a:avLst/>
          </a:prstGeom>
        </p:spPr>
      </p:pic>
      <p:sp>
        <p:nvSpPr>
          <p:cNvPr id="18" name="TextBox 17"/>
          <p:cNvSpPr txBox="1"/>
          <p:nvPr/>
        </p:nvSpPr>
        <p:spPr>
          <a:xfrm>
            <a:off x="6415887" y="3081528"/>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متابعة منظمة لكل صفقة</a:t>
            </a:r>
          </a:p>
        </p:txBody>
      </p:sp>
      <p:sp>
        <p:nvSpPr>
          <p:cNvPr id="19" name="Rounded Rectangle 18"/>
          <p:cNvSpPr/>
          <p:nvPr/>
        </p:nvSpPr>
        <p:spPr>
          <a:xfrm>
            <a:off x="685800" y="3081528"/>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chart.png"/>
          <p:cNvPicPr>
            <a:picLocks noChangeAspect="1"/>
          </p:cNvPicPr>
          <p:nvPr/>
        </p:nvPicPr>
        <p:blipFill>
          <a:blip r:embed="rId6"/>
          <a:stretch>
            <a:fillRect/>
          </a:stretch>
        </p:blipFill>
        <p:spPr>
          <a:xfrm>
            <a:off x="5245455" y="3305556"/>
            <a:ext cx="512064" cy="512064"/>
          </a:xfrm>
          <a:prstGeom prst="rect">
            <a:avLst/>
          </a:prstGeom>
        </p:spPr>
      </p:pic>
      <p:sp>
        <p:nvSpPr>
          <p:cNvPr id="21" name="TextBox 20"/>
          <p:cNvSpPr txBox="1"/>
          <p:nvPr/>
        </p:nvSpPr>
        <p:spPr>
          <a:xfrm>
            <a:off x="868680" y="3081528"/>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معرفة أفضل مصادر العملاء</a:t>
            </a:r>
          </a:p>
        </p:txBody>
      </p:sp>
      <p:sp>
        <p:nvSpPr>
          <p:cNvPr id="22" name="Rounded Rectangle 21"/>
          <p:cNvSpPr/>
          <p:nvPr/>
        </p:nvSpPr>
        <p:spPr>
          <a:xfrm>
            <a:off x="6233007" y="4242816"/>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trophy.png"/>
          <p:cNvPicPr>
            <a:picLocks noChangeAspect="1"/>
          </p:cNvPicPr>
          <p:nvPr/>
        </p:nvPicPr>
        <p:blipFill>
          <a:blip r:embed="rId7"/>
          <a:stretch>
            <a:fillRect/>
          </a:stretch>
        </p:blipFill>
        <p:spPr>
          <a:xfrm>
            <a:off x="10792663" y="4466844"/>
            <a:ext cx="512064" cy="512064"/>
          </a:xfrm>
          <a:prstGeom prst="rect">
            <a:avLst/>
          </a:prstGeom>
        </p:spPr>
      </p:pic>
      <p:sp>
        <p:nvSpPr>
          <p:cNvPr id="24" name="TextBox 23"/>
          <p:cNvSpPr txBox="1"/>
          <p:nvPr/>
        </p:nvSpPr>
        <p:spPr>
          <a:xfrm>
            <a:off x="6415887" y="4242816"/>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تحسين أداء مدراء المبيعات</a:t>
            </a:r>
          </a:p>
        </p:txBody>
      </p:sp>
      <p:sp>
        <p:nvSpPr>
          <p:cNvPr id="25" name="Rounded Rectangle 24"/>
          <p:cNvSpPr/>
          <p:nvPr/>
        </p:nvSpPr>
        <p:spPr>
          <a:xfrm>
            <a:off x="685800" y="4242816"/>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c_chat.png"/>
          <p:cNvPicPr>
            <a:picLocks noChangeAspect="1"/>
          </p:cNvPicPr>
          <p:nvPr/>
        </p:nvPicPr>
        <p:blipFill>
          <a:blip r:embed="rId8"/>
          <a:stretch>
            <a:fillRect/>
          </a:stretch>
        </p:blipFill>
        <p:spPr>
          <a:xfrm>
            <a:off x="5245455" y="4466844"/>
            <a:ext cx="512064" cy="512064"/>
          </a:xfrm>
          <a:prstGeom prst="rect">
            <a:avLst/>
          </a:prstGeom>
        </p:spPr>
      </p:pic>
      <p:sp>
        <p:nvSpPr>
          <p:cNvPr id="27" name="TextBox 26"/>
          <p:cNvSpPr txBox="1"/>
          <p:nvPr/>
        </p:nvSpPr>
        <p:spPr>
          <a:xfrm>
            <a:off x="868680" y="4242816"/>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رفع جودة التواصل مع العملاء</a:t>
            </a:r>
          </a:p>
        </p:txBody>
      </p:sp>
      <p:sp>
        <p:nvSpPr>
          <p:cNvPr id="28" name="Rounded Rectangle 27"/>
          <p:cNvSpPr/>
          <p:nvPr/>
        </p:nvSpPr>
        <p:spPr>
          <a:xfrm>
            <a:off x="6233007" y="5404104"/>
            <a:ext cx="5272887" cy="960120"/>
          </a:xfrm>
          <a:prstGeom prst="roundRect">
            <a:avLst>
              <a:gd name="adj" fmla="val 14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target.png"/>
          <p:cNvPicPr>
            <a:picLocks noChangeAspect="1"/>
          </p:cNvPicPr>
          <p:nvPr/>
        </p:nvPicPr>
        <p:blipFill>
          <a:blip r:embed="rId9"/>
          <a:stretch>
            <a:fillRect/>
          </a:stretch>
        </p:blipFill>
        <p:spPr>
          <a:xfrm>
            <a:off x="10792663" y="5628132"/>
            <a:ext cx="512064" cy="512064"/>
          </a:xfrm>
          <a:prstGeom prst="rect">
            <a:avLst/>
          </a:prstGeom>
        </p:spPr>
      </p:pic>
      <p:sp>
        <p:nvSpPr>
          <p:cNvPr id="30" name="TextBox 29"/>
          <p:cNvSpPr txBox="1"/>
          <p:nvPr/>
        </p:nvSpPr>
        <p:spPr>
          <a:xfrm>
            <a:off x="6415887" y="5404104"/>
            <a:ext cx="4257903" cy="960120"/>
          </a:xfrm>
          <a:prstGeom prst="rect">
            <a:avLst/>
          </a:prstGeom>
          <a:noFill/>
        </p:spPr>
        <p:txBody>
          <a:bodyPr wrap="square" anchor="ctr" lIns="0" rIns="0" tIns="0" bIns="0">
            <a:spAutoFit/>
          </a:bodyPr>
          <a:lstStyle/>
          <a:p>
            <a:pPr algn="r" rtl="1">
              <a:lnSpc>
                <a:spcPct val="115000"/>
              </a:lnSpc>
            </a:pPr>
            <a:r>
              <a:rPr sz="1350" b="1">
                <a:solidFill>
                  <a:srgbClr val="0B1B33"/>
                </a:solidFill>
                <a:latin typeface="Tahoma"/>
                <a:ea typeface="Tahoma"/>
                <a:cs typeface="Tahoma"/>
              </a:rPr>
              <a:t>قرارات مبنية على بيانات واضحة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التسويق الرقمي</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إدارة المحتوى والحملات من لوحة واحدة</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13</a:t>
            </a:r>
          </a:p>
        </p:txBody>
      </p:sp>
      <p:pic>
        <p:nvPicPr>
          <p:cNvPr id="10" name="Picture 9" descr="ic_facebook.png"/>
          <p:cNvPicPr>
            <a:picLocks noChangeAspect="1"/>
          </p:cNvPicPr>
          <p:nvPr/>
        </p:nvPicPr>
        <p:blipFill>
          <a:blip r:embed="rId3"/>
          <a:stretch>
            <a:fillRect/>
          </a:stretch>
        </p:blipFill>
        <p:spPr>
          <a:xfrm>
            <a:off x="11121847" y="1444752"/>
            <a:ext cx="384048" cy="384048"/>
          </a:xfrm>
          <a:prstGeom prst="rect">
            <a:avLst/>
          </a:prstGeom>
        </p:spPr>
      </p:pic>
      <p:pic>
        <p:nvPicPr>
          <p:cNvPr id="11" name="Picture 10" descr="ic_instagram.png"/>
          <p:cNvPicPr>
            <a:picLocks noChangeAspect="1"/>
          </p:cNvPicPr>
          <p:nvPr/>
        </p:nvPicPr>
        <p:blipFill>
          <a:blip r:embed="rId4"/>
          <a:stretch>
            <a:fillRect/>
          </a:stretch>
        </p:blipFill>
        <p:spPr>
          <a:xfrm>
            <a:off x="10628071" y="1444752"/>
            <a:ext cx="384048" cy="384048"/>
          </a:xfrm>
          <a:prstGeom prst="rect">
            <a:avLst/>
          </a:prstGeom>
        </p:spPr>
      </p:pic>
      <p:pic>
        <p:nvPicPr>
          <p:cNvPr id="12" name="Picture 11" descr="ic_x.png"/>
          <p:cNvPicPr>
            <a:picLocks noChangeAspect="1"/>
          </p:cNvPicPr>
          <p:nvPr/>
        </p:nvPicPr>
        <p:blipFill>
          <a:blip r:embed="rId5"/>
          <a:stretch>
            <a:fillRect/>
          </a:stretch>
        </p:blipFill>
        <p:spPr>
          <a:xfrm>
            <a:off x="10134295" y="1444752"/>
            <a:ext cx="384048" cy="384048"/>
          </a:xfrm>
          <a:prstGeom prst="rect">
            <a:avLst/>
          </a:prstGeom>
        </p:spPr>
      </p:pic>
      <p:sp>
        <p:nvSpPr>
          <p:cNvPr id="13" name="Rounded Rectangle 12"/>
          <p:cNvSpPr/>
          <p:nvPr/>
        </p:nvSpPr>
        <p:spPr>
          <a:xfrm>
            <a:off x="5586984" y="2185416"/>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3120"/>
            <a:ext cx="4754880" cy="384048"/>
          </a:xfrm>
          <a:prstGeom prst="rect">
            <a:avLst/>
          </a:prstGeom>
          <a:noFill/>
        </p:spPr>
        <p:txBody>
          <a:bodyPr wrap="square" lIns="0" rIns="0" tIns="0" bIns="0">
            <a:spAutoFit/>
          </a:bodyPr>
          <a:lstStyle/>
          <a:p>
            <a:pPr algn="r" rtl="1">
              <a:lnSpc>
                <a:spcPct val="120000"/>
              </a:lnSpc>
            </a:pPr>
            <a:r>
              <a:rPr sz="1400" b="0">
                <a:solidFill>
                  <a:srgbClr val="0B1B33"/>
                </a:solidFill>
                <a:latin typeface="Tahoma"/>
                <a:ea typeface="Tahoma"/>
                <a:cs typeface="Tahoma"/>
              </a:rPr>
              <a:t>نشر منشورات على فيسبوك وانستقرام وإكس من لوحة واحدة</a:t>
            </a:r>
          </a:p>
        </p:txBody>
      </p:sp>
      <p:sp>
        <p:nvSpPr>
          <p:cNvPr id="15" name="Rounded Rectangle 14"/>
          <p:cNvSpPr/>
          <p:nvPr/>
        </p:nvSpPr>
        <p:spPr>
          <a:xfrm>
            <a:off x="5586984" y="2759964"/>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677668"/>
            <a:ext cx="4754880" cy="384048"/>
          </a:xfrm>
          <a:prstGeom prst="rect">
            <a:avLst/>
          </a:prstGeom>
          <a:noFill/>
        </p:spPr>
        <p:txBody>
          <a:bodyPr wrap="square" lIns="0" rIns="0" tIns="0" bIns="0">
            <a:spAutoFit/>
          </a:bodyPr>
          <a:lstStyle/>
          <a:p>
            <a:pPr algn="r" rtl="1">
              <a:lnSpc>
                <a:spcPct val="120000"/>
              </a:lnSpc>
            </a:pPr>
            <a:r>
              <a:rPr sz="1400" b="0">
                <a:solidFill>
                  <a:srgbClr val="0B1B33"/>
                </a:solidFill>
                <a:latin typeface="Tahoma"/>
                <a:ea typeface="Tahoma"/>
                <a:cs typeface="Tahoma"/>
              </a:rPr>
              <a:t>جدولة المحتوى مسبقًا لكل القنوات</a:t>
            </a:r>
          </a:p>
        </p:txBody>
      </p:sp>
      <p:sp>
        <p:nvSpPr>
          <p:cNvPr id="17" name="Rounded Rectangle 16"/>
          <p:cNvSpPr/>
          <p:nvPr/>
        </p:nvSpPr>
        <p:spPr>
          <a:xfrm>
            <a:off x="5586984" y="3334512"/>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2216"/>
            <a:ext cx="4754880" cy="384048"/>
          </a:xfrm>
          <a:prstGeom prst="rect">
            <a:avLst/>
          </a:prstGeom>
          <a:noFill/>
        </p:spPr>
        <p:txBody>
          <a:bodyPr wrap="square" lIns="0" rIns="0" tIns="0" bIns="0">
            <a:spAutoFit/>
          </a:bodyPr>
          <a:lstStyle/>
          <a:p>
            <a:pPr algn="r" rtl="1">
              <a:lnSpc>
                <a:spcPct val="120000"/>
              </a:lnSpc>
            </a:pPr>
            <a:r>
              <a:rPr sz="1400" b="0">
                <a:solidFill>
                  <a:srgbClr val="0B1B33"/>
                </a:solidFill>
                <a:latin typeface="Tahoma"/>
                <a:ea typeface="Tahoma"/>
                <a:cs typeface="Tahoma"/>
              </a:rPr>
              <a:t>اعتماد المنشورات قبل النشر الفعلي</a:t>
            </a:r>
          </a:p>
        </p:txBody>
      </p:sp>
      <p:sp>
        <p:nvSpPr>
          <p:cNvPr id="19" name="Rounded Rectangle 18"/>
          <p:cNvSpPr/>
          <p:nvPr/>
        </p:nvSpPr>
        <p:spPr>
          <a:xfrm>
            <a:off x="5586984" y="3909060"/>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26764"/>
            <a:ext cx="4754880" cy="384048"/>
          </a:xfrm>
          <a:prstGeom prst="rect">
            <a:avLst/>
          </a:prstGeom>
          <a:noFill/>
        </p:spPr>
        <p:txBody>
          <a:bodyPr wrap="square" lIns="0" rIns="0" tIns="0" bIns="0">
            <a:spAutoFit/>
          </a:bodyPr>
          <a:lstStyle/>
          <a:p>
            <a:pPr algn="r" rtl="1">
              <a:lnSpc>
                <a:spcPct val="120000"/>
              </a:lnSpc>
            </a:pPr>
            <a:r>
              <a:rPr sz="1400" b="0">
                <a:solidFill>
                  <a:srgbClr val="0B1B33"/>
                </a:solidFill>
                <a:latin typeface="Tahoma"/>
                <a:ea typeface="Tahoma"/>
                <a:cs typeface="Tahoma"/>
              </a:rPr>
              <a:t>ربط المنشورات بالحملات والعملاء المحتملين</a:t>
            </a:r>
          </a:p>
        </p:txBody>
      </p:sp>
      <p:sp>
        <p:nvSpPr>
          <p:cNvPr id="21" name="Rounded Rectangle 20"/>
          <p:cNvSpPr/>
          <p:nvPr/>
        </p:nvSpPr>
        <p:spPr>
          <a:xfrm>
            <a:off x="5586984" y="4483608"/>
            <a:ext cx="128016" cy="128016"/>
          </a:xfrm>
          <a:prstGeom prst="roundRect">
            <a:avLst>
              <a:gd name="adj" fmla="val 50000"/>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401312"/>
            <a:ext cx="4754880" cy="384048"/>
          </a:xfrm>
          <a:prstGeom prst="rect">
            <a:avLst/>
          </a:prstGeom>
          <a:noFill/>
        </p:spPr>
        <p:txBody>
          <a:bodyPr wrap="square" lIns="0" rIns="0" tIns="0" bIns="0">
            <a:spAutoFit/>
          </a:bodyPr>
          <a:lstStyle/>
          <a:p>
            <a:pPr algn="r" rtl="1">
              <a:lnSpc>
                <a:spcPct val="120000"/>
              </a:lnSpc>
            </a:pPr>
            <a:r>
              <a:rPr sz="1400" b="0">
                <a:solidFill>
                  <a:srgbClr val="0B1B33"/>
                </a:solidFill>
                <a:latin typeface="Tahoma"/>
                <a:ea typeface="Tahoma"/>
                <a:cs typeface="Tahoma"/>
              </a:rPr>
              <a:t>قياس أي حملة تجلب عملاء أكثر</a:t>
            </a:r>
          </a:p>
        </p:txBody>
      </p:sp>
      <p:pic>
        <p:nvPicPr>
          <p:cNvPr id="23" name="Picture 22" descr="social_composer.png"/>
          <p:cNvPicPr>
            <a:picLocks noChangeAspect="1"/>
          </p:cNvPicPr>
          <p:nvPr/>
        </p:nvPicPr>
        <p:blipFill>
          <a:blip r:embed="rId6"/>
          <a:stretch>
            <a:fillRect/>
          </a:stretch>
        </p:blipFill>
        <p:spPr>
          <a:xfrm>
            <a:off x="5699455" y="2011680"/>
            <a:ext cx="5806440" cy="323313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الحملات التسويقية</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إنشاء حملة تسويقية متكاملة بضغطة واحدة</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14</a:t>
            </a:r>
          </a:p>
        </p:txBody>
      </p:sp>
      <p:pic>
        <p:nvPicPr>
          <p:cNvPr id="10" name="Picture 9" descr="campaign_builder.png"/>
          <p:cNvPicPr>
            <a:picLocks noChangeAspect="1"/>
          </p:cNvPicPr>
          <p:nvPr/>
        </p:nvPicPr>
        <p:blipFill>
          <a:blip r:embed="rId3"/>
          <a:stretch>
            <a:fillRect/>
          </a:stretch>
        </p:blipFill>
        <p:spPr>
          <a:xfrm>
            <a:off x="838047" y="1920240"/>
            <a:ext cx="10515600" cy="3704359"/>
          </a:xfrm>
          <a:prstGeom prst="rect">
            <a:avLst/>
          </a:prstGeom>
        </p:spPr>
      </p:pic>
      <p:sp>
        <p:nvSpPr>
          <p:cNvPr id="11" name="TextBox 10"/>
          <p:cNvSpPr txBox="1"/>
          <p:nvPr/>
        </p:nvSpPr>
        <p:spPr>
          <a:xfrm>
            <a:off x="685800" y="5989320"/>
            <a:ext cx="10820095" cy="457200"/>
          </a:xfrm>
          <a:prstGeom prst="rect">
            <a:avLst/>
          </a:prstGeom>
          <a:noFill/>
        </p:spPr>
        <p:txBody>
          <a:bodyPr wrap="square" anchor="t" lIns="0" rIns="0" tIns="0" bIns="0">
            <a:spAutoFit/>
          </a:bodyPr>
          <a:lstStyle/>
          <a:p>
            <a:pPr algn="ctr" rtl="1">
              <a:lnSpc>
                <a:spcPct val="115000"/>
              </a:lnSpc>
            </a:pPr>
            <a:r>
              <a:rPr sz="1300" b="0">
                <a:solidFill>
                  <a:srgbClr val="636E80"/>
                </a:solidFill>
                <a:latin typeface="Tahoma"/>
                <a:ea typeface="Tahoma"/>
                <a:cs typeface="Tahoma"/>
              </a:rPr>
              <a:t>من الفكرة إلى النشر ثم تتبع العملاء الناتجين — كل حملة مرتبطة مباشرة بالـ CRM والمبيعات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مزايا إضافية مقترحة</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إمكانيات تكميلية ترفع قيمة النظام</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15</a:t>
            </a:r>
          </a:p>
        </p:txBody>
      </p:sp>
      <p:sp>
        <p:nvSpPr>
          <p:cNvPr id="10" name="Rounded Rectangle 9"/>
          <p:cNvSpPr/>
          <p:nvPr/>
        </p:nvSpPr>
        <p:spPr>
          <a:xfrm>
            <a:off x="10085570"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calendar.png"/>
          <p:cNvPicPr>
            <a:picLocks noChangeAspect="1"/>
          </p:cNvPicPr>
          <p:nvPr/>
        </p:nvPicPr>
        <p:blipFill>
          <a:blip r:embed="rId3"/>
          <a:stretch>
            <a:fillRect/>
          </a:stretch>
        </p:blipFill>
        <p:spPr>
          <a:xfrm>
            <a:off x="10585420" y="2039111"/>
            <a:ext cx="420624" cy="420624"/>
          </a:xfrm>
          <a:prstGeom prst="rect">
            <a:avLst/>
          </a:prstGeom>
        </p:spPr>
      </p:pic>
      <p:sp>
        <p:nvSpPr>
          <p:cNvPr id="12" name="TextBox 11"/>
          <p:cNvSpPr txBox="1"/>
          <p:nvPr/>
        </p:nvSpPr>
        <p:spPr>
          <a:xfrm>
            <a:off x="10140434"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حجز مواعيد حسب الفرع</a:t>
            </a:r>
          </a:p>
        </p:txBody>
      </p:sp>
      <p:sp>
        <p:nvSpPr>
          <p:cNvPr id="13" name="Rounded Rectangle 12"/>
          <p:cNvSpPr/>
          <p:nvPr/>
        </p:nvSpPr>
        <p:spPr>
          <a:xfrm>
            <a:off x="8518942"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doc.png"/>
          <p:cNvPicPr>
            <a:picLocks noChangeAspect="1"/>
          </p:cNvPicPr>
          <p:nvPr/>
        </p:nvPicPr>
        <p:blipFill>
          <a:blip r:embed="rId4"/>
          <a:stretch>
            <a:fillRect/>
          </a:stretch>
        </p:blipFill>
        <p:spPr>
          <a:xfrm>
            <a:off x="9018792" y="2039111"/>
            <a:ext cx="420624" cy="420624"/>
          </a:xfrm>
          <a:prstGeom prst="rect">
            <a:avLst/>
          </a:prstGeom>
        </p:spPr>
      </p:pic>
      <p:sp>
        <p:nvSpPr>
          <p:cNvPr id="15" name="TextBox 14"/>
          <p:cNvSpPr txBox="1"/>
          <p:nvPr/>
        </p:nvSpPr>
        <p:spPr>
          <a:xfrm>
            <a:off x="8573806"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مولّد عروض الأسعار</a:t>
            </a:r>
          </a:p>
        </p:txBody>
      </p:sp>
      <p:sp>
        <p:nvSpPr>
          <p:cNvPr id="16" name="Rounded Rectangle 15"/>
          <p:cNvSpPr/>
          <p:nvPr/>
        </p:nvSpPr>
        <p:spPr>
          <a:xfrm>
            <a:off x="6952313"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shield.png"/>
          <p:cNvPicPr>
            <a:picLocks noChangeAspect="1"/>
          </p:cNvPicPr>
          <p:nvPr/>
        </p:nvPicPr>
        <p:blipFill>
          <a:blip r:embed="rId5"/>
          <a:stretch>
            <a:fillRect/>
          </a:stretch>
        </p:blipFill>
        <p:spPr>
          <a:xfrm>
            <a:off x="7452163" y="2039111"/>
            <a:ext cx="420624" cy="420624"/>
          </a:xfrm>
          <a:prstGeom prst="rect">
            <a:avLst/>
          </a:prstGeom>
        </p:spPr>
      </p:pic>
      <p:sp>
        <p:nvSpPr>
          <p:cNvPr id="18" name="TextBox 17"/>
          <p:cNvSpPr txBox="1"/>
          <p:nvPr/>
        </p:nvSpPr>
        <p:spPr>
          <a:xfrm>
            <a:off x="7007177"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توقيع واعتماد إلكتروني للعروض</a:t>
            </a:r>
          </a:p>
        </p:txBody>
      </p:sp>
      <p:sp>
        <p:nvSpPr>
          <p:cNvPr id="19" name="Rounded Rectangle 18"/>
          <p:cNvSpPr/>
          <p:nvPr/>
        </p:nvSpPr>
        <p:spPr>
          <a:xfrm>
            <a:off x="5385685"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c_task.png"/>
          <p:cNvPicPr>
            <a:picLocks noChangeAspect="1"/>
          </p:cNvPicPr>
          <p:nvPr/>
        </p:nvPicPr>
        <p:blipFill>
          <a:blip r:embed="rId6"/>
          <a:stretch>
            <a:fillRect/>
          </a:stretch>
        </p:blipFill>
        <p:spPr>
          <a:xfrm>
            <a:off x="5885535" y="2039111"/>
            <a:ext cx="420624" cy="420624"/>
          </a:xfrm>
          <a:prstGeom prst="rect">
            <a:avLst/>
          </a:prstGeom>
        </p:spPr>
      </p:pic>
      <p:sp>
        <p:nvSpPr>
          <p:cNvPr id="21" name="TextBox 20"/>
          <p:cNvSpPr txBox="1"/>
          <p:nvPr/>
        </p:nvSpPr>
        <p:spPr>
          <a:xfrm>
            <a:off x="5440549"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تذكيرات مهام فريق المبيعات</a:t>
            </a:r>
          </a:p>
        </p:txBody>
      </p:sp>
      <p:sp>
        <p:nvSpPr>
          <p:cNvPr id="22" name="Rounded Rectangle 21"/>
          <p:cNvSpPr/>
          <p:nvPr/>
        </p:nvSpPr>
        <p:spPr>
          <a:xfrm>
            <a:off x="3819056"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c_bell.png"/>
          <p:cNvPicPr>
            <a:picLocks noChangeAspect="1"/>
          </p:cNvPicPr>
          <p:nvPr/>
        </p:nvPicPr>
        <p:blipFill>
          <a:blip r:embed="rId7"/>
          <a:stretch>
            <a:fillRect/>
          </a:stretch>
        </p:blipFill>
        <p:spPr>
          <a:xfrm>
            <a:off x="4318907" y="2039111"/>
            <a:ext cx="420624" cy="420624"/>
          </a:xfrm>
          <a:prstGeom prst="rect">
            <a:avLst/>
          </a:prstGeom>
        </p:spPr>
      </p:pic>
      <p:sp>
        <p:nvSpPr>
          <p:cNvPr id="24" name="TextBox 23"/>
          <p:cNvSpPr txBox="1"/>
          <p:nvPr/>
        </p:nvSpPr>
        <p:spPr>
          <a:xfrm>
            <a:off x="3873920"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تصعيد العملاء المهملين</a:t>
            </a:r>
          </a:p>
        </p:txBody>
      </p:sp>
      <p:sp>
        <p:nvSpPr>
          <p:cNvPr id="25" name="Rounded Rectangle 24"/>
          <p:cNvSpPr/>
          <p:nvPr/>
        </p:nvSpPr>
        <p:spPr>
          <a:xfrm>
            <a:off x="2252428"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c_trophy.png"/>
          <p:cNvPicPr>
            <a:picLocks noChangeAspect="1"/>
          </p:cNvPicPr>
          <p:nvPr/>
        </p:nvPicPr>
        <p:blipFill>
          <a:blip r:embed="rId8"/>
          <a:stretch>
            <a:fillRect/>
          </a:stretch>
        </p:blipFill>
        <p:spPr>
          <a:xfrm>
            <a:off x="2752278" y="2039111"/>
            <a:ext cx="420624" cy="420624"/>
          </a:xfrm>
          <a:prstGeom prst="rect">
            <a:avLst/>
          </a:prstGeom>
        </p:spPr>
      </p:pic>
      <p:sp>
        <p:nvSpPr>
          <p:cNvPr id="27" name="TextBox 26"/>
          <p:cNvSpPr txBox="1"/>
          <p:nvPr/>
        </p:nvSpPr>
        <p:spPr>
          <a:xfrm>
            <a:off x="2307292"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لوحة صدارة أداء الفروع</a:t>
            </a:r>
          </a:p>
        </p:txBody>
      </p:sp>
      <p:sp>
        <p:nvSpPr>
          <p:cNvPr id="28" name="Rounded Rectangle 27"/>
          <p:cNvSpPr/>
          <p:nvPr/>
        </p:nvSpPr>
        <p:spPr>
          <a:xfrm>
            <a:off x="685800" y="18745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ic_timeline.png"/>
          <p:cNvPicPr>
            <a:picLocks noChangeAspect="1"/>
          </p:cNvPicPr>
          <p:nvPr/>
        </p:nvPicPr>
        <p:blipFill>
          <a:blip r:embed="rId9"/>
          <a:stretch>
            <a:fillRect/>
          </a:stretch>
        </p:blipFill>
        <p:spPr>
          <a:xfrm>
            <a:off x="1185650" y="2039111"/>
            <a:ext cx="420624" cy="420624"/>
          </a:xfrm>
          <a:prstGeom prst="rect">
            <a:avLst/>
          </a:prstGeom>
        </p:spPr>
      </p:pic>
      <p:sp>
        <p:nvSpPr>
          <p:cNvPr id="30" name="TextBox 29"/>
          <p:cNvSpPr txBox="1"/>
          <p:nvPr/>
        </p:nvSpPr>
        <p:spPr>
          <a:xfrm>
            <a:off x="740664" y="25328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سجل تاريخي كامل لكل عميل</a:t>
            </a:r>
          </a:p>
        </p:txBody>
      </p:sp>
      <p:sp>
        <p:nvSpPr>
          <p:cNvPr id="31" name="Rounded Rectangle 30"/>
          <p:cNvSpPr/>
          <p:nvPr/>
        </p:nvSpPr>
        <p:spPr>
          <a:xfrm>
            <a:off x="10085570"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c_shield.png"/>
          <p:cNvPicPr>
            <a:picLocks noChangeAspect="1"/>
          </p:cNvPicPr>
          <p:nvPr/>
        </p:nvPicPr>
        <p:blipFill>
          <a:blip r:embed="rId5"/>
          <a:stretch>
            <a:fillRect/>
          </a:stretch>
        </p:blipFill>
        <p:spPr>
          <a:xfrm>
            <a:off x="10585420" y="3639311"/>
            <a:ext cx="420624" cy="420624"/>
          </a:xfrm>
          <a:prstGeom prst="rect">
            <a:avLst/>
          </a:prstGeom>
        </p:spPr>
      </p:pic>
      <p:sp>
        <p:nvSpPr>
          <p:cNvPr id="33" name="TextBox 32"/>
          <p:cNvSpPr txBox="1"/>
          <p:nvPr/>
        </p:nvSpPr>
        <p:spPr>
          <a:xfrm>
            <a:off x="10140434"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صلاحيات حسب الدور الوظيفي</a:t>
            </a:r>
          </a:p>
        </p:txBody>
      </p:sp>
      <p:sp>
        <p:nvSpPr>
          <p:cNvPr id="34" name="Rounded Rectangle 33"/>
          <p:cNvSpPr/>
          <p:nvPr/>
        </p:nvSpPr>
        <p:spPr>
          <a:xfrm>
            <a:off x="8518942"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c_phone.png"/>
          <p:cNvPicPr>
            <a:picLocks noChangeAspect="1"/>
          </p:cNvPicPr>
          <p:nvPr/>
        </p:nvPicPr>
        <p:blipFill>
          <a:blip r:embed="rId10"/>
          <a:stretch>
            <a:fillRect/>
          </a:stretch>
        </p:blipFill>
        <p:spPr>
          <a:xfrm>
            <a:off x="9018792" y="3639311"/>
            <a:ext cx="420624" cy="420624"/>
          </a:xfrm>
          <a:prstGeom prst="rect">
            <a:avLst/>
          </a:prstGeom>
        </p:spPr>
      </p:pic>
      <p:sp>
        <p:nvSpPr>
          <p:cNvPr id="36" name="TextBox 35"/>
          <p:cNvSpPr txBox="1"/>
          <p:nvPr/>
        </p:nvSpPr>
        <p:spPr>
          <a:xfrm>
            <a:off x="8573806"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ربط سجلات المكالمات</a:t>
            </a:r>
          </a:p>
        </p:txBody>
      </p:sp>
      <p:sp>
        <p:nvSpPr>
          <p:cNvPr id="37" name="Rounded Rectangle 36"/>
          <p:cNvSpPr/>
          <p:nvPr/>
        </p:nvSpPr>
        <p:spPr>
          <a:xfrm>
            <a:off x="6952313"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ic_funnel.png"/>
          <p:cNvPicPr>
            <a:picLocks noChangeAspect="1"/>
          </p:cNvPicPr>
          <p:nvPr/>
        </p:nvPicPr>
        <p:blipFill>
          <a:blip r:embed="rId11"/>
          <a:stretch>
            <a:fillRect/>
          </a:stretch>
        </p:blipFill>
        <p:spPr>
          <a:xfrm>
            <a:off x="7452163" y="3639311"/>
            <a:ext cx="420624" cy="420624"/>
          </a:xfrm>
          <a:prstGeom prst="rect">
            <a:avLst/>
          </a:prstGeom>
        </p:spPr>
      </p:pic>
      <p:sp>
        <p:nvSpPr>
          <p:cNvPr id="39" name="TextBox 38"/>
          <p:cNvSpPr txBox="1"/>
          <p:nvPr/>
        </p:nvSpPr>
        <p:spPr>
          <a:xfrm>
            <a:off x="7007177"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لوحة عائد الاستثمار التسويقي</a:t>
            </a:r>
          </a:p>
        </p:txBody>
      </p:sp>
      <p:sp>
        <p:nvSpPr>
          <p:cNvPr id="40" name="Rounded Rectangle 39"/>
          <p:cNvSpPr/>
          <p:nvPr/>
        </p:nvSpPr>
        <p:spPr>
          <a:xfrm>
            <a:off x="5385685"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c_check.png"/>
          <p:cNvPicPr>
            <a:picLocks noChangeAspect="1"/>
          </p:cNvPicPr>
          <p:nvPr/>
        </p:nvPicPr>
        <p:blipFill>
          <a:blip r:embed="rId12"/>
          <a:stretch>
            <a:fillRect/>
          </a:stretch>
        </p:blipFill>
        <p:spPr>
          <a:xfrm>
            <a:off x="5885535" y="3639311"/>
            <a:ext cx="420624" cy="420624"/>
          </a:xfrm>
          <a:prstGeom prst="rect">
            <a:avLst/>
          </a:prstGeom>
        </p:spPr>
      </p:pic>
      <p:sp>
        <p:nvSpPr>
          <p:cNvPr id="42" name="TextBox 41"/>
          <p:cNvSpPr txBox="1"/>
          <p:nvPr/>
        </p:nvSpPr>
        <p:spPr>
          <a:xfrm>
            <a:off x="5440549"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متابعة تلقائية بعد البيع</a:t>
            </a:r>
          </a:p>
        </p:txBody>
      </p:sp>
      <p:sp>
        <p:nvSpPr>
          <p:cNvPr id="43" name="Rounded Rectangle 42"/>
          <p:cNvSpPr/>
          <p:nvPr/>
        </p:nvSpPr>
        <p:spPr>
          <a:xfrm>
            <a:off x="3819056"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ic_survey.png"/>
          <p:cNvPicPr>
            <a:picLocks noChangeAspect="1"/>
          </p:cNvPicPr>
          <p:nvPr/>
        </p:nvPicPr>
        <p:blipFill>
          <a:blip r:embed="rId13"/>
          <a:stretch>
            <a:fillRect/>
          </a:stretch>
        </p:blipFill>
        <p:spPr>
          <a:xfrm>
            <a:off x="4318907" y="3639311"/>
            <a:ext cx="420624" cy="420624"/>
          </a:xfrm>
          <a:prstGeom prst="rect">
            <a:avLst/>
          </a:prstGeom>
        </p:spPr>
      </p:pic>
      <p:sp>
        <p:nvSpPr>
          <p:cNvPr id="45" name="TextBox 44"/>
          <p:cNvSpPr txBox="1"/>
          <p:nvPr/>
        </p:nvSpPr>
        <p:spPr>
          <a:xfrm>
            <a:off x="3873920"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استبيانات رضا العملاء</a:t>
            </a:r>
          </a:p>
        </p:txBody>
      </p:sp>
      <p:sp>
        <p:nvSpPr>
          <p:cNvPr id="46" name="Rounded Rectangle 45"/>
          <p:cNvSpPr/>
          <p:nvPr/>
        </p:nvSpPr>
        <p:spPr>
          <a:xfrm>
            <a:off x="2252428"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ic_export.png"/>
          <p:cNvPicPr>
            <a:picLocks noChangeAspect="1"/>
          </p:cNvPicPr>
          <p:nvPr/>
        </p:nvPicPr>
        <p:blipFill>
          <a:blip r:embed="rId14"/>
          <a:stretch>
            <a:fillRect/>
          </a:stretch>
        </p:blipFill>
        <p:spPr>
          <a:xfrm>
            <a:off x="2752278" y="3639311"/>
            <a:ext cx="420624" cy="420624"/>
          </a:xfrm>
          <a:prstGeom prst="rect">
            <a:avLst/>
          </a:prstGeom>
        </p:spPr>
      </p:pic>
      <p:sp>
        <p:nvSpPr>
          <p:cNvPr id="48" name="TextBox 47"/>
          <p:cNvSpPr txBox="1"/>
          <p:nvPr/>
        </p:nvSpPr>
        <p:spPr>
          <a:xfrm>
            <a:off x="2307292"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تصدير ونسخ احتياطي للبيانات</a:t>
            </a:r>
          </a:p>
        </p:txBody>
      </p:sp>
      <p:sp>
        <p:nvSpPr>
          <p:cNvPr id="49" name="Rounded Rectangle 48"/>
          <p:cNvSpPr/>
          <p:nvPr/>
        </p:nvSpPr>
        <p:spPr>
          <a:xfrm>
            <a:off x="685800" y="3474719"/>
            <a:ext cx="1420324" cy="1417320"/>
          </a:xfrm>
          <a:prstGeom prst="roundRect">
            <a:avLst>
              <a:gd name="adj" fmla="val 12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Picture 49" descr="ic_gear.png"/>
          <p:cNvPicPr>
            <a:picLocks noChangeAspect="1"/>
          </p:cNvPicPr>
          <p:nvPr/>
        </p:nvPicPr>
        <p:blipFill>
          <a:blip r:embed="rId15"/>
          <a:stretch>
            <a:fillRect/>
          </a:stretch>
        </p:blipFill>
        <p:spPr>
          <a:xfrm>
            <a:off x="1185650" y="3639311"/>
            <a:ext cx="420624" cy="420624"/>
          </a:xfrm>
          <a:prstGeom prst="rect">
            <a:avLst/>
          </a:prstGeom>
        </p:spPr>
      </p:pic>
      <p:sp>
        <p:nvSpPr>
          <p:cNvPr id="51" name="TextBox 50"/>
          <p:cNvSpPr txBox="1"/>
          <p:nvPr/>
        </p:nvSpPr>
        <p:spPr>
          <a:xfrm>
            <a:off x="740664" y="4133087"/>
            <a:ext cx="1310596" cy="713232"/>
          </a:xfrm>
          <a:prstGeom prst="rect">
            <a:avLst/>
          </a:prstGeom>
          <a:noFill/>
        </p:spPr>
        <p:txBody>
          <a:bodyPr wrap="square" anchor="t" lIns="0" rIns="0" tIns="0" bIns="0">
            <a:spAutoFit/>
          </a:bodyPr>
          <a:lstStyle/>
          <a:p>
            <a:pPr algn="ctr" rtl="1">
              <a:lnSpc>
                <a:spcPct val="112000"/>
              </a:lnSpc>
            </a:pPr>
            <a:r>
              <a:rPr sz="969" b="1">
                <a:solidFill>
                  <a:srgbClr val="0B1B33"/>
                </a:solidFill>
                <a:latin typeface="Tahoma"/>
                <a:ea typeface="Tahoma"/>
                <a:cs typeface="Tahoma"/>
              </a:rPr>
              <a:t>لوحة تحكم إدارية شاملة</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لوحة تحكم الإدارة</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رؤية شاملة لجميع الفروع في الوقت الفعلي</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16</a:t>
            </a:r>
          </a:p>
        </p:txBody>
      </p:sp>
      <p:pic>
        <p:nvPicPr>
          <p:cNvPr id="10" name="Picture 9" descr="admin_dashboard.png"/>
          <p:cNvPicPr>
            <a:picLocks noChangeAspect="1"/>
          </p:cNvPicPr>
          <p:nvPr/>
        </p:nvPicPr>
        <p:blipFill>
          <a:blip r:embed="rId3"/>
          <a:stretch>
            <a:fillRect/>
          </a:stretch>
        </p:blipFill>
        <p:spPr>
          <a:xfrm>
            <a:off x="2618027" y="1783080"/>
            <a:ext cx="6955639" cy="46634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badge_light.png"/>
          <p:cNvPicPr>
            <a:picLocks noChangeAspect="1"/>
          </p:cNvPicPr>
          <p:nvPr/>
        </p:nvPicPr>
        <p:blipFill>
          <a:blip r:embed="rId2"/>
          <a:stretch>
            <a:fillRect/>
          </a:stretch>
        </p:blipFill>
        <p:spPr>
          <a:xfrm>
            <a:off x="11387023" y="292608"/>
            <a:ext cx="420624" cy="420624"/>
          </a:xfrm>
          <a:prstGeom prst="rect">
            <a:avLst/>
          </a:prstGeom>
        </p:spPr>
      </p:pic>
      <p:sp>
        <p:nvSpPr>
          <p:cNvPr id="4" name="Rectangle 3"/>
          <p:cNvSpPr/>
          <p:nvPr/>
        </p:nvSpPr>
        <p:spPr>
          <a:xfrm>
            <a:off x="0" y="0"/>
            <a:ext cx="128016" cy="6858000"/>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57200"/>
            <a:ext cx="5486400" cy="320040"/>
          </a:xfrm>
          <a:prstGeom prst="rect">
            <a:avLst/>
          </a:prstGeom>
          <a:noFill/>
        </p:spPr>
        <p:txBody>
          <a:bodyPr wrap="square" anchor="t" lIns="0" rIns="0" tIns="0" bIns="0">
            <a:spAutoFit/>
          </a:bodyPr>
          <a:lstStyle/>
          <a:p>
            <a:pPr algn="r" rtl="1">
              <a:lnSpc>
                <a:spcPct val="115000"/>
              </a:lnSpc>
            </a:pPr>
            <a:r>
              <a:rPr sz="1300" b="1">
                <a:solidFill>
                  <a:srgbClr val="F2A31B"/>
                </a:solidFill>
                <a:latin typeface="Tahoma"/>
                <a:ea typeface="Tahoma"/>
                <a:cs typeface="Tahoma"/>
              </a:rPr>
              <a:t>خطة التنفيذ</a:t>
            </a:r>
          </a:p>
        </p:txBody>
      </p:sp>
      <p:sp>
        <p:nvSpPr>
          <p:cNvPr id="6" name="TextBox 5"/>
          <p:cNvSpPr txBox="1"/>
          <p:nvPr/>
        </p:nvSpPr>
        <p:spPr>
          <a:xfrm>
            <a:off x="685800" y="786384"/>
            <a:ext cx="9601200" cy="548640"/>
          </a:xfrm>
          <a:prstGeom prst="rect">
            <a:avLst/>
          </a:prstGeom>
          <a:noFill/>
        </p:spPr>
        <p:txBody>
          <a:bodyPr wrap="square" anchor="t" lIns="0" rIns="0" tIns="0" bIns="0">
            <a:spAutoFit/>
          </a:bodyPr>
          <a:lstStyle/>
          <a:p>
            <a:pPr algn="r" rtl="1">
              <a:lnSpc>
                <a:spcPct val="115000"/>
              </a:lnSpc>
            </a:pPr>
            <a:r>
              <a:rPr sz="2500" b="1">
                <a:solidFill>
                  <a:srgbClr val="0B1B33"/>
                </a:solidFill>
                <a:latin typeface="Tahoma"/>
                <a:ea typeface="Tahoma"/>
                <a:cs typeface="Tahoma"/>
              </a:rPr>
              <a:t>سبع مراحل واضحة من الاكتشاف حتى الدعم المستمر</a:t>
            </a:r>
          </a:p>
        </p:txBody>
      </p:sp>
      <p:sp>
        <p:nvSpPr>
          <p:cNvPr id="7" name="Rectangle 6"/>
          <p:cNvSpPr/>
          <p:nvPr/>
        </p:nvSpPr>
        <p:spPr>
          <a:xfrm>
            <a:off x="9601200" y="1316736"/>
            <a:ext cx="685800" cy="508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73952"/>
            <a:ext cx="5486400" cy="274320"/>
          </a:xfrm>
          <a:prstGeom prst="rect">
            <a:avLst/>
          </a:prstGeom>
          <a:noFill/>
        </p:spPr>
        <p:txBody>
          <a:bodyPr wrap="square" anchor="t" lIns="0" rIns="0" tIns="0" bIns="0">
            <a:spAutoFit/>
          </a:bodyPr>
          <a:lstStyle/>
          <a:p>
            <a:pPr algn="l" rtl="1">
              <a:lnSpc>
                <a:spcPct val="115000"/>
              </a:lnSpc>
            </a:pPr>
            <a:r>
              <a:rPr sz="900" b="0">
                <a:solidFill>
                  <a:srgbClr val="636E80"/>
                </a:solidFill>
                <a:latin typeface="Tahoma"/>
                <a:ea typeface="Tahoma"/>
                <a:cs typeface="Tahoma"/>
              </a:rPr>
              <a:t>HammerLoad — نظام علاقات العملاء الذكي</a:t>
            </a:r>
          </a:p>
        </p:txBody>
      </p:sp>
      <p:sp>
        <p:nvSpPr>
          <p:cNvPr id="9" name="TextBox 8"/>
          <p:cNvSpPr txBox="1"/>
          <p:nvPr/>
        </p:nvSpPr>
        <p:spPr>
          <a:xfrm>
            <a:off x="6248095" y="6473952"/>
            <a:ext cx="5486400" cy="274320"/>
          </a:xfrm>
          <a:prstGeom prst="rect">
            <a:avLst/>
          </a:prstGeom>
          <a:noFill/>
        </p:spPr>
        <p:txBody>
          <a:bodyPr wrap="square" anchor="t" lIns="0" rIns="0" tIns="0" bIns="0">
            <a:spAutoFit/>
          </a:bodyPr>
          <a:lstStyle/>
          <a:p>
            <a:pPr algn="r" rtl="1">
              <a:lnSpc>
                <a:spcPct val="115000"/>
              </a:lnSpc>
            </a:pPr>
            <a:r>
              <a:rPr sz="900" b="0">
                <a:solidFill>
                  <a:srgbClr val="636E80"/>
                </a:solidFill>
                <a:latin typeface="Tahoma"/>
                <a:ea typeface="Tahoma"/>
                <a:cs typeface="Tahoma"/>
              </a:rPr>
              <a:t>17</a:t>
            </a:r>
          </a:p>
        </p:txBody>
      </p:sp>
      <p:pic>
        <p:nvPicPr>
          <p:cNvPr id="10" name="Picture 9" descr="roadmap.png"/>
          <p:cNvPicPr>
            <a:picLocks noChangeAspect="1"/>
          </p:cNvPicPr>
          <p:nvPr/>
        </p:nvPicPr>
        <p:blipFill>
          <a:blip r:embed="rId3"/>
          <a:stretch>
            <a:fillRect/>
          </a:stretch>
        </p:blipFill>
        <p:spPr>
          <a:xfrm>
            <a:off x="335127" y="2606040"/>
            <a:ext cx="11521440" cy="2291195"/>
          </a:xfrm>
          <a:prstGeom prst="rect">
            <a:avLst/>
          </a:prstGeom>
        </p:spPr>
      </p:pic>
      <p:sp>
        <p:nvSpPr>
          <p:cNvPr id="11" name="Rounded Rectangle 10"/>
          <p:cNvSpPr/>
          <p:nvPr/>
        </p:nvSpPr>
        <p:spPr>
          <a:xfrm>
            <a:off x="685800" y="5532120"/>
            <a:ext cx="10820095" cy="685800"/>
          </a:xfrm>
          <a:prstGeom prst="roundRect">
            <a:avLst>
              <a:gd name="adj" fmla="val 150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5532120"/>
            <a:ext cx="10271455" cy="685800"/>
          </a:xfrm>
          <a:prstGeom prst="rect">
            <a:avLst/>
          </a:prstGeom>
          <a:noFill/>
        </p:spPr>
        <p:txBody>
          <a:bodyPr wrap="square" anchor="ctr" lIns="0" rIns="0" tIns="0" bIns="0">
            <a:spAutoFit/>
          </a:bodyPr>
          <a:lstStyle/>
          <a:p>
            <a:pPr algn="ctr" rtl="1">
              <a:lnSpc>
                <a:spcPct val="115000"/>
              </a:lnSpc>
            </a:pPr>
            <a:r>
              <a:rPr sz="1300" b="0">
                <a:solidFill>
                  <a:srgbClr val="636E80"/>
                </a:solidFill>
                <a:latin typeface="Tahoma"/>
                <a:ea typeface="Tahoma"/>
                <a:cs typeface="Tahoma"/>
              </a:rPr>
              <a:t>المدة الزمنية لكل مرحلة تُحدَّد بدقة بعد جلسة الاكتشاف حسب نطاق العمل المتفق عليه</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91695" cy="109728"/>
          </a:xfrm>
          <a:prstGeom prst="rect">
            <a:avLst/>
          </a:prstGeom>
          <a:solidFill>
            <a:srgbClr val="0B6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badge_dark.png"/>
          <p:cNvPicPr>
            <a:picLocks noChangeAspect="1"/>
          </p:cNvPicPr>
          <p:nvPr/>
        </p:nvPicPr>
        <p:blipFill>
          <a:blip r:embed="rId2"/>
          <a:stretch>
            <a:fillRect/>
          </a:stretch>
        </p:blipFill>
        <p:spPr>
          <a:xfrm>
            <a:off x="5410047" y="685800"/>
            <a:ext cx="1371600" cy="1371600"/>
          </a:xfrm>
          <a:prstGeom prst="rect">
            <a:avLst/>
          </a:prstGeom>
        </p:spPr>
      </p:pic>
      <p:sp>
        <p:nvSpPr>
          <p:cNvPr id="6" name="TextBox 5"/>
          <p:cNvSpPr txBox="1"/>
          <p:nvPr/>
        </p:nvSpPr>
        <p:spPr>
          <a:xfrm>
            <a:off x="1097280" y="2331720"/>
            <a:ext cx="9994392" cy="1188720"/>
          </a:xfrm>
          <a:prstGeom prst="rect">
            <a:avLst/>
          </a:prstGeom>
          <a:noFill/>
        </p:spPr>
        <p:txBody>
          <a:bodyPr wrap="square" anchor="t" lIns="0" rIns="0" tIns="0" bIns="0">
            <a:spAutoFit/>
          </a:bodyPr>
          <a:lstStyle/>
          <a:p>
            <a:pPr algn="ctr" rtl="1">
              <a:lnSpc>
                <a:spcPct val="130000"/>
              </a:lnSpc>
            </a:pPr>
            <a:r>
              <a:rPr sz="2500" b="1">
                <a:solidFill>
                  <a:srgbClr val="FFFFFF"/>
                </a:solidFill>
                <a:latin typeface="Tahoma"/>
                <a:ea typeface="Tahoma"/>
                <a:cs typeface="Tahoma"/>
              </a:rPr>
              <a:t>نظام واحد يربط الفروع والعملاء</a:t>
            </a:r>
          </a:p>
          <a:p>
            <a:pPr algn="ctr" rtl="1">
              <a:lnSpc>
                <a:spcPct val="130000"/>
              </a:lnSpc>
            </a:pPr>
            <a:r>
              <a:rPr sz="2500" b="1">
                <a:solidFill>
                  <a:srgbClr val="FFFFFF"/>
                </a:solidFill>
                <a:latin typeface="Tahoma"/>
                <a:ea typeface="Tahoma"/>
                <a:cs typeface="Tahoma"/>
              </a:rPr>
              <a:t>والمبيعات والتسويق في تجربة ذكية قابلة للنمو</a:t>
            </a:r>
          </a:p>
        </p:txBody>
      </p:sp>
      <p:sp>
        <p:nvSpPr>
          <p:cNvPr id="7" name="Rectangle 6"/>
          <p:cNvSpPr/>
          <p:nvPr/>
        </p:nvSpPr>
        <p:spPr>
          <a:xfrm>
            <a:off x="5684367" y="3703320"/>
            <a:ext cx="822960" cy="38100"/>
          </a:xfrm>
          <a:prstGeom prst="rect">
            <a:avLst/>
          </a:prstGeom>
          <a:solidFill>
            <a:srgbClr val="F2A3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977639"/>
            <a:ext cx="9994392" cy="457200"/>
          </a:xfrm>
          <a:prstGeom prst="rect">
            <a:avLst/>
          </a:prstGeom>
          <a:noFill/>
        </p:spPr>
        <p:txBody>
          <a:bodyPr wrap="square" anchor="t" lIns="0" rIns="0" tIns="0" bIns="0">
            <a:spAutoFit/>
          </a:bodyPr>
          <a:lstStyle/>
          <a:p>
            <a:pPr algn="ctr" rtl="1">
              <a:lnSpc>
                <a:spcPct val="115000"/>
              </a:lnSpc>
            </a:pPr>
            <a:r>
              <a:rPr sz="1400" b="1">
                <a:solidFill>
                  <a:srgbClr val="F2A31B"/>
                </a:solidFill>
                <a:latin typeface="Tahoma"/>
                <a:ea typeface="Tahoma"/>
                <a:cs typeface="Tahoma"/>
              </a:rPr>
              <a:t>الخطوة القادمة</a:t>
            </a:r>
          </a:p>
        </p:txBody>
      </p:sp>
      <p:sp>
        <p:nvSpPr>
          <p:cNvPr id="9" name="TextBox 8"/>
          <p:cNvSpPr txBox="1"/>
          <p:nvPr/>
        </p:nvSpPr>
        <p:spPr>
          <a:xfrm>
            <a:off x="2011680" y="4370832"/>
            <a:ext cx="8165592" cy="731520"/>
          </a:xfrm>
          <a:prstGeom prst="rect">
            <a:avLst/>
          </a:prstGeom>
          <a:noFill/>
        </p:spPr>
        <p:txBody>
          <a:bodyPr wrap="square" anchor="t" lIns="0" rIns="0" tIns="0" bIns="0">
            <a:spAutoFit/>
          </a:bodyPr>
          <a:lstStyle/>
          <a:p>
            <a:pPr algn="ctr" rtl="1">
              <a:lnSpc>
                <a:spcPct val="135000"/>
              </a:lnSpc>
            </a:pPr>
            <a:r>
              <a:rPr sz="1500" b="0">
                <a:solidFill>
                  <a:srgbClr val="E7EAEE"/>
                </a:solidFill>
                <a:latin typeface="Tahoma"/>
                <a:ea typeface="Tahoma"/>
                <a:cs typeface="Tahoma"/>
              </a:rPr>
              <a:t>جلسة عمل قصيرة لتثبيت الفروع، ومصادر العملاء، ومراحل البيع، وقنوات التكامل</a:t>
            </a:r>
          </a:p>
        </p:txBody>
      </p:sp>
      <p:sp>
        <p:nvSpPr>
          <p:cNvPr id="10" name="Rounded Rectangle 9"/>
          <p:cNvSpPr/>
          <p:nvPr/>
        </p:nvSpPr>
        <p:spPr>
          <a:xfrm>
            <a:off x="3813048" y="5349240"/>
            <a:ext cx="4572000" cy="777240"/>
          </a:xfrm>
          <a:prstGeom prst="roundRect">
            <a:avLst>
              <a:gd name="adj" fmla="val 1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13048" y="5349240"/>
            <a:ext cx="4572000" cy="777240"/>
          </a:xfrm>
          <a:prstGeom prst="rect">
            <a:avLst/>
          </a:prstGeom>
          <a:noFill/>
        </p:spPr>
        <p:txBody>
          <a:bodyPr wrap="square" anchor="ctr" lIns="0" rIns="0" tIns="0" bIns="0">
            <a:spAutoFit/>
          </a:bodyPr>
          <a:lstStyle/>
          <a:p>
            <a:pPr algn="ctr" rtl="1">
              <a:lnSpc>
                <a:spcPct val="115000"/>
              </a:lnSpc>
            </a:pPr>
            <a:r>
              <a:rPr sz="1400" b="1">
                <a:solidFill>
                  <a:srgbClr val="0B1B33"/>
                </a:solidFill>
                <a:latin typeface="Tahoma"/>
                <a:ea typeface="Tahoma"/>
                <a:cs typeface="Tahoma"/>
              </a:rPr>
              <a:t>HammerLoad  </a:t>
            </a:r>
            <a:r>
              <a:rPr sz="1250" b="0">
                <a:solidFill>
                  <a:srgbClr val="636E80"/>
                </a:solidFill>
                <a:latin typeface="Tahoma"/>
                <a:ea typeface="Tahoma"/>
                <a:cs typeface="Tahoma"/>
              </a:rPr>
              <a:t>|  للتواصل: info@hammerload.com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