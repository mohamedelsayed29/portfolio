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424fd195e74d61" /><Relationship Type="http://schemas.openxmlformats.org/officeDocument/2006/relationships/extended-properties" Target="/docProps/app.xml" Id="Rdc8c5a0db8964805" /><Relationship Type="http://schemas.openxmlformats.org/officeDocument/2006/relationships/officeDocument" Target="/ppt/presentation.xml" Id="Rea65f646e8c9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4c1f1c088d431b"/>
  </p:sldMasterIdLst>
  <p:notesMasterIdLst>
    <p:notesMasterId xmlns:r="http://schemas.openxmlformats.org/officeDocument/2006/relationships" r:id="Rea57f615acc541df"/>
  </p:notesMasterIdLst>
  <p:sldIdLst>
    <p:sldId xmlns:r="http://schemas.openxmlformats.org/officeDocument/2006/relationships" id="256" r:id="R2d2bcb7cbfaa4090"/>
    <p:sldId xmlns:r="http://schemas.openxmlformats.org/officeDocument/2006/relationships" id="257" r:id="R28aa702ecc5c4366"/>
    <p:sldId xmlns:r="http://schemas.openxmlformats.org/officeDocument/2006/relationships" id="258" r:id="Rcdbf230b2cbd461b"/>
    <p:sldId xmlns:r="http://schemas.openxmlformats.org/officeDocument/2006/relationships" id="259" r:id="Ra877c8c78d4d4010"/>
    <p:sldId xmlns:r="http://schemas.openxmlformats.org/officeDocument/2006/relationships" id="260" r:id="R9196f365d72a417a"/>
    <p:sldId xmlns:r="http://schemas.openxmlformats.org/officeDocument/2006/relationships" id="261" r:id="Re73f7bb4cc5e4f77"/>
    <p:sldId xmlns:r="http://schemas.openxmlformats.org/officeDocument/2006/relationships" id="262" r:id="Rf756f01e56f9457a"/>
    <p:sldId xmlns:r="http://schemas.openxmlformats.org/officeDocument/2006/relationships" id="263" r:id="R7d3e0987499f4f0d"/>
    <p:sldId xmlns:r="http://schemas.openxmlformats.org/officeDocument/2006/relationships" id="264" r:id="R08a8a63f0b2740a7"/>
    <p:sldId xmlns:r="http://schemas.openxmlformats.org/officeDocument/2006/relationships" id="265" r:id="R087157e611494480"/>
    <p:sldId xmlns:r="http://schemas.openxmlformats.org/officeDocument/2006/relationships" id="266" r:id="R67ffb1fd8c244fe0"/>
    <p:sldId xmlns:r="http://schemas.openxmlformats.org/officeDocument/2006/relationships" id="267" r:id="Rb79b23ff4fb04db9"/>
    <p:sldId xmlns:r="http://schemas.openxmlformats.org/officeDocument/2006/relationships" id="268" r:id="R5c3d1b5d2f6149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ee0c9987224d46" /><Relationship Type="http://schemas.openxmlformats.org/officeDocument/2006/relationships/slideMaster" Target="/ppt/slideMasters/slideMaster1.xml" Id="Rac4c1f1c088d431b" /><Relationship Type="http://schemas.openxmlformats.org/officeDocument/2006/relationships/notesMaster" Target="/ppt/notesMasters/notesMaster1.xml" Id="Rea57f615acc541df" /><Relationship Type="http://schemas.openxmlformats.org/officeDocument/2006/relationships/presProps" Target="/ppt/presProps.xml" Id="Rdd3cb2fa8bf442af" /><Relationship Type="http://schemas.openxmlformats.org/officeDocument/2006/relationships/tableStyles" Target="/ppt/tableStyles.xml" Id="R59155574c0c9444c" /><Relationship Type="http://schemas.openxmlformats.org/officeDocument/2006/relationships/slide" Target="/ppt/slides/slide1.xml" Id="R2d2bcb7cbfaa4090" /><Relationship Type="http://schemas.openxmlformats.org/officeDocument/2006/relationships/slide" Target="/ppt/slides/slide2.xml" Id="R28aa702ecc5c4366" /><Relationship Type="http://schemas.openxmlformats.org/officeDocument/2006/relationships/slide" Target="/ppt/slides/slide3.xml" Id="Rcdbf230b2cbd461b" /><Relationship Type="http://schemas.openxmlformats.org/officeDocument/2006/relationships/slide" Target="/ppt/slides/slide4.xml" Id="Ra877c8c78d4d4010" /><Relationship Type="http://schemas.openxmlformats.org/officeDocument/2006/relationships/slide" Target="/ppt/slides/slide5.xml" Id="R9196f365d72a417a" /><Relationship Type="http://schemas.openxmlformats.org/officeDocument/2006/relationships/slide" Target="/ppt/slides/slide6.xml" Id="Re73f7bb4cc5e4f77" /><Relationship Type="http://schemas.openxmlformats.org/officeDocument/2006/relationships/slide" Target="/ppt/slides/slide7.xml" Id="Rf756f01e56f9457a" /><Relationship Type="http://schemas.openxmlformats.org/officeDocument/2006/relationships/slide" Target="/ppt/slides/slide8.xml" Id="R7d3e0987499f4f0d" /><Relationship Type="http://schemas.openxmlformats.org/officeDocument/2006/relationships/slide" Target="/ppt/slides/slide9.xml" Id="R08a8a63f0b2740a7" /><Relationship Type="http://schemas.openxmlformats.org/officeDocument/2006/relationships/slide" Target="/ppt/slides/slide10.xml" Id="R087157e611494480" /><Relationship Type="http://schemas.openxmlformats.org/officeDocument/2006/relationships/slide" Target="/ppt/slides/slide11.xml" Id="R67ffb1fd8c244fe0" /><Relationship Type="http://schemas.openxmlformats.org/officeDocument/2006/relationships/slide" Target="/ppt/slides/slide12.xml" Id="Rb79b23ff4fb04db9" /><Relationship Type="http://schemas.openxmlformats.org/officeDocument/2006/relationships/slide" Target="/ppt/slides/slide13.xml" Id="R5c3d1b5d2f61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8f30125c6d43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ef2fcb86a5408f" /><Relationship Type="http://schemas.openxmlformats.org/officeDocument/2006/relationships/notesMaster" Target="/ppt/notesMasters/notesMaster1.xml" Id="R4121dbc2559546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2ae10e69bd4524" /><Relationship Type="http://schemas.openxmlformats.org/officeDocument/2006/relationships/notesMaster" Target="/ppt/notesMasters/notesMaster1.xml" Id="R88bc4098b0ad41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8f1a7e7bcc4d55" /><Relationship Type="http://schemas.openxmlformats.org/officeDocument/2006/relationships/notesMaster" Target="/ppt/notesMasters/notesMaster1.xml" Id="R44bf298ce3bb42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c35a7f394e4ef3" /><Relationship Type="http://schemas.openxmlformats.org/officeDocument/2006/relationships/notesMaster" Target="/ppt/notesMasters/notesMaster1.xml" Id="R3e85f6d760aa43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4def4424324ac8" /><Relationship Type="http://schemas.openxmlformats.org/officeDocument/2006/relationships/notesMaster" Target="/ppt/notesMasters/notesMaster1.xml" Id="Rd9aef92a444d48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2db37754a740b0" /><Relationship Type="http://schemas.openxmlformats.org/officeDocument/2006/relationships/notesMaster" Target="/ppt/notesMasters/notesMaster1.xml" Id="Rd3071c405cec45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c79d7a8f644d1d" /><Relationship Type="http://schemas.openxmlformats.org/officeDocument/2006/relationships/notesMaster" Target="/ppt/notesMasters/notesMaster1.xml" Id="R1fbe6bf621df4f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a6d2cd2a804d10" /><Relationship Type="http://schemas.openxmlformats.org/officeDocument/2006/relationships/notesMaster" Target="/ppt/notesMasters/notesMaster1.xml" Id="R10f9719bce6645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0234bf22094dcd" /><Relationship Type="http://schemas.openxmlformats.org/officeDocument/2006/relationships/notesMaster" Target="/ppt/notesMasters/notesMaster1.xml" Id="R45e5b8f725f84d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b167493e3842f8" /><Relationship Type="http://schemas.openxmlformats.org/officeDocument/2006/relationships/notesMaster" Target="/ppt/notesMasters/notesMaster1.xml" Id="R9b748a0dfc2645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1c33cf4fa14412" /><Relationship Type="http://schemas.openxmlformats.org/officeDocument/2006/relationships/notesMaster" Target="/ppt/notesMasters/notesMaster1.xml" Id="R175dcbfa6ef84f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c46aecc5bf48d9" /><Relationship Type="http://schemas.openxmlformats.org/officeDocument/2006/relationships/notesMaster" Target="/ppt/notesMasters/notesMaster1.xml" Id="R3d801710672544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10711942af43e8" /><Relationship Type="http://schemas.openxmlformats.org/officeDocument/2006/relationships/notesMaster" Target="/ppt/notesMasters/notesMaster1.xml" Id="R4968d8f62c4a40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brief in this Codex task, dated 2026-09-03.</a:t>
            </a:r>
          </a:p>
          <a:p xmlns:a="http://schemas.openxmlformats.org/drawingml/2006/main">
            <a:r>
              <a:t>- User-provided WhatsApp screenshot: /var/folders/_l/4gk4r9ys1g12gz_0p2149qtc0000gn/T/TemporaryItems/NSIRD_screencaptureui_c97L48/Screenshot 2026-09-03 at 4.11.38 PM.png.</a:t>
            </a:r>
          </a:p>
          <a:p xmlns:a="http://schemas.openxmlformats.org/drawingml/2006/main">
            <a:r>
              <a:t>- User-provided HammerLoad logo image: /Users/test/Downloads/HammerLoad Logo-selection (1).png.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3c96f9ad247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9c9c85b82e4d22" /><Relationship Type="http://schemas.openxmlformats.org/officeDocument/2006/relationships/slideLayout" Target="/ppt/slideLayouts/slideLayout1.xml" Id="R2e9fc5aeb6aa4f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9fc5aeb6aa4f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0da0b12414725" /><Relationship Type="http://schemas.openxmlformats.org/officeDocument/2006/relationships/image" Target="/ppt/media/image.png" Id="R1602a0bbd8a147e4" /><Relationship Type="http://schemas.openxmlformats.org/officeDocument/2006/relationships/notesSlide" Target="/ppt/notesSlides/notesSlide1.xml" Id="Rec7523c2a48c4a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1e9f0914e4cd7" /><Relationship Type="http://schemas.openxmlformats.org/officeDocument/2006/relationships/image" Target="/ppt/media/image2.png" Id="Ra1e086120d574836" /><Relationship Type="http://schemas.openxmlformats.org/officeDocument/2006/relationships/notesSlide" Target="/ppt/notesSlides/notesSlide2.xml" Id="R6d92fd7a896d41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4b808efb44c84" /><Relationship Type="http://schemas.openxmlformats.org/officeDocument/2006/relationships/image" Target="/ppt/media/image3.png" Id="Rce68139315994eb2" /><Relationship Type="http://schemas.openxmlformats.org/officeDocument/2006/relationships/notesSlide" Target="/ppt/notesSlides/notesSlide3.xml" Id="R3243921b59f648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b74f3cd9941da" /><Relationship Type="http://schemas.openxmlformats.org/officeDocument/2006/relationships/image" Target="/ppt/media/image4.png" Id="Rb208e235485a4a0f" /><Relationship Type="http://schemas.openxmlformats.org/officeDocument/2006/relationships/notesSlide" Target="/ppt/notesSlides/notesSlide4.xml" Id="R8ff48c09bf244c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af57448cb439c" /><Relationship Type="http://schemas.openxmlformats.org/officeDocument/2006/relationships/image" Target="/ppt/media/image5.png" Id="R06f5ec270e7a413f" /><Relationship Type="http://schemas.openxmlformats.org/officeDocument/2006/relationships/notesSlide" Target="/ppt/notesSlides/notesSlide5.xml" Id="R8cb05c7dbaf84e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85a3e9668445b" /><Relationship Type="http://schemas.openxmlformats.org/officeDocument/2006/relationships/image" Target="/ppt/media/image6.png" Id="R01575ed20eac4caa" /><Relationship Type="http://schemas.openxmlformats.org/officeDocument/2006/relationships/notesSlide" Target="/ppt/notesSlides/notesSlide6.xml" Id="R3485bdbff66540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b4f37063f46d8" /><Relationship Type="http://schemas.openxmlformats.org/officeDocument/2006/relationships/image" Target="/ppt/media/image7.png" Id="Raa6adc88261e4ca1" /><Relationship Type="http://schemas.openxmlformats.org/officeDocument/2006/relationships/notesSlide" Target="/ppt/notesSlides/notesSlide7.xml" Id="R7e8d7d44148f40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e7176280d473c" /><Relationship Type="http://schemas.openxmlformats.org/officeDocument/2006/relationships/image" Target="/ppt/media/image8.png" Id="R9948ecb0fbe14944" /><Relationship Type="http://schemas.openxmlformats.org/officeDocument/2006/relationships/notesSlide" Target="/ppt/notesSlides/notesSlide8.xml" Id="R0f6c783a00c249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9cf84e8bc47c6" /><Relationship Type="http://schemas.openxmlformats.org/officeDocument/2006/relationships/image" Target="/ppt/media/image9.png" Id="R280bd85944564d48" /><Relationship Type="http://schemas.openxmlformats.org/officeDocument/2006/relationships/notesSlide" Target="/ppt/notesSlides/notesSlide9.xml" Id="Rc50629082ef84d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068dcd51e4e4e" /><Relationship Type="http://schemas.openxmlformats.org/officeDocument/2006/relationships/image" Target="/ppt/media/image10.png" Id="Rc9ff50635d9645d0" /><Relationship Type="http://schemas.openxmlformats.org/officeDocument/2006/relationships/notesSlide" Target="/ppt/notesSlides/notesSlide10.xml" Id="Rbbf0db56ebae49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e28b4018d42c8" /><Relationship Type="http://schemas.openxmlformats.org/officeDocument/2006/relationships/image" Target="/ppt/media/image11.png" Id="R26d7f3c3b4f34174" /><Relationship Type="http://schemas.openxmlformats.org/officeDocument/2006/relationships/notesSlide" Target="/ppt/notesSlides/notesSlide11.xml" Id="R13c2f3c2e1d447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83c381aaa48a0" /><Relationship Type="http://schemas.openxmlformats.org/officeDocument/2006/relationships/image" Target="/ppt/media/image12.png" Id="Rf586b51ce8664f26" /><Relationship Type="http://schemas.openxmlformats.org/officeDocument/2006/relationships/notesSlide" Target="/ppt/notesSlides/notesSlide12.xml" Id="R65f8fe5684dd46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c4734e60745b8" /><Relationship Type="http://schemas.openxmlformats.org/officeDocument/2006/relationships/image" Target="/ppt/media/image13.png" Id="R6fd03349a26042af" /><Relationship Type="http://schemas.openxmlformats.org/officeDocument/2006/relationships/notesSlide" Target="/ppt/notesSlides/notesSlide13.xml" Id="Re2b1b2f392da44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FCBBD-8307-4D6D-BC92-AB0CE6AF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056A0-D8E4-4843-954F-2233F8FB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2395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2a0bbd8a147e4"/>
          <a:stretch xmlns:a="http://schemas.openxmlformats.org/drawingml/2006/main"/>
        </p:blipFill>
        <p:spPr>
          <a:xfrm xmlns:a="http://schemas.openxmlformats.org/drawingml/2006/main">
            <a:off x="4953000" y="106680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8F7D7-EE8E-49C6-91D2-560825AF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623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مرحبًا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BBA7A-4B09-4933-92A5-1636F696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434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C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C35"/>
                </a:solidFill>
                <a:latin typeface="Arial"/>
                <a:ea typeface="Arial"/>
                <a:cs typeface="Arial"/>
              </a:rPr>
              <a:t>عرض نظام علاقات عملاء ذكي للفروع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59C6E-02C7-43E8-ACE1-DC2DF3F8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مقدم بواسطة هامرلود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F01E8-C80F-43B3-A7CE-35EF393A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734AE-3331-44F4-A4EC-72D70826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B3C82-9CD3-423C-881C-E7591FE9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8201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453D4-33AA-4443-BBB4-EA183B1A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2A1E4-37A6-41D9-8524-EC3EC6EC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552950"/>
            <a:ext cx="95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086120d574836"/>
          <a:stretch xmlns:a="http://schemas.openxmlformats.org/drawingml/2006/main"/>
        </p:blipFill>
        <p:spPr>
          <a:xfrm xmlns:a="http://schemas.openxmlformats.org/drawingml/2006/main">
            <a:off x="876300" y="742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EAB99-5647-443C-92CE-637F2900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71650"/>
            <a:ext cx="5638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نظام ذكي لإدارة العملاء</a:t>
            </a:r>
          </a:p>
          <a:p xmlns:a="http://schemas.openxmlformats.org/drawingml/2006/main">
            <a:pPr algn="r">
              <a:defRPr sz="34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وزيادة إغلاق الصفقات للفروع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01D08-244D-44CF-92A8-B2E5541B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48050"/>
            <a:ext cx="584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منصة واحدة تجمع العملاء، مصادرهم، تصنيفهم، وتوجيههم تلقائيًا لمدير مبيعات الفرع الأنسب عبر واتساب أو الإيميل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1492A-C3E2-4A62-9E78-F9A235FA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196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3E8"/>
          </a:solidFill>
          <a:ln xmlns:a="http://schemas.openxmlformats.org/drawingml/2006/main" w="9525">
            <a:solidFill>
              <a:srgbClr val="F8F3E8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8A0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8A05"/>
                </a:solidFill>
                <a:latin typeface="Arial"/>
                <a:ea typeface="Arial"/>
                <a:cs typeface="Arial"/>
              </a:rPr>
              <a:t>توجيه العملاء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FB52E-E80A-4C40-B80F-972FAEE8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EAF6EF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6C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C35"/>
                </a:solidFill>
                <a:latin typeface="Arial"/>
                <a:ea typeface="Arial"/>
                <a:cs typeface="Arial"/>
              </a:rPr>
              <a:t>تصنيف ذكي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7EECE-BFA2-438D-B6C9-404E3ECA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إدارة الفروع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0956D-B782-47BA-8834-9F8C65F0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B4B4B-8073-40F8-A479-1864B19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17FA4-3F1B-446A-BCE1-16BF252E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1231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8139315994eb2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37D9B-0C3C-4B8A-BA9A-1030C9C8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F1E26-4A74-4882-AB82-24F59D5B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4CFC3-C205-4158-A180-28E902D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B9A4D-D548-43F3-80FB-507112EA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2CDBC-6292-445E-83E7-5699960D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التحدي ليس في جلب العملاء فقط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85124-5B67-4D19-820E-D10CD24E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التحدي الحقيقي أن يصل العميل المناسب للشخص المناسب في الوقت المناسب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18883-2955-4181-80A3-0CFDDFC2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31051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B2242-6F97-4BE1-852D-FA37D768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1813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8DD4A-60EF-4BF1-B965-9DB351B6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فروع متعددة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43A4A-3F23-4348-AA44-1DD5013C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274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كل فرع يحتاج رؤية واضحة للعملاء والفرص وحالة المتابعة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06488-69BD-4866-AD00-710D85CA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31051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1C91E-CDBA-4899-A643-5DD831B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813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FC2B7-359C-4F63-977A-AEEBC056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528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مصادر متفرقة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E1351-1585-4642-9304-214BA58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274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واتساب، إعلانات، موقع، اتصالات، إنستغرام، ومعارض بدون توحيد كامل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96AC5-994B-48C9-A574-D08EE74B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31051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6862F-4189-43E8-9585-E926C7A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813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FCAF1-B633-4B65-9384-221DCB17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فرص تضيع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2CCDB-847A-4601-888E-A9D2B21E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71900"/>
            <a:ext cx="274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تأخر الرد أو سوء التوزيع يقلل احتمالية إغلاق الصفقة</a:t>
            </a:r>
          </a:p>
        </p:txBody>
      </p:sp>
    </p:spTree>
    <p:extLst>
      <p:ext uri="{BB962C8B-B14F-4D97-AF65-F5344CB8AC3E}">
        <p14:creationId xmlns:p14="http://schemas.microsoft.com/office/powerpoint/2010/main" val="1686198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8e235485a4a0f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D8553-B03D-425F-ACB2-E2BA842A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E9B46-3F29-48AC-AC73-42B1CBA1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74B62-7580-4B94-9BFC-1FD4C90F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11B80-540C-4BD6-A3B7-9970232A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7A45C-B50F-4A29-9F1C-853BFB89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الحل المقترح: غرفة قيادة ذكية للمبيعات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58306-CE27-4BA4-9F00-94FED28B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النظام لا يحفظ بيانات العملاء فقط، بل يساعد الفريق على ترتيب الأولويات والتحرك بسرعة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378CB-1E2A-4D3A-A21E-C4CBC599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تجميع كل العملاء المحتملين في مكان واحد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F53EC-9655-4B86-9CC7-EAC6B10C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67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DD505-17D4-454B-BE29-B7FBEC54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576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تصنيف العميل تلقائيًا حسب الجدية والفرع والمصدر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FE89C-401B-41D9-A389-13B8F79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30443-1EF1-43B7-81EA-41D479BE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529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إرسال بيانات العميل فورًا لمدير مبيعات الفرع المناسب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10FA4-8D20-44C3-A140-4DF3AB05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F9946-340E-40AA-820C-262C501C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482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متابعة مراحل الصفقة حتى الإغلاق أو الفقد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8B283-F8AE-4630-A14C-AC61180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52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03AC9-8F6C-472E-AC57-CDEE3985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435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تقارير واضحة للإدارة عن الأداء والمصادر الأكثر ربحية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F6C9A-BD51-4A41-8D15-57E9FC4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4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5625D-12FB-4BFE-8BC0-992204D7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E8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1F81B-41AF-4015-AFD8-3A5ABF32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337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C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C35"/>
                </a:solidFill>
                <a:latin typeface="Arial"/>
                <a:ea typeface="Arial"/>
                <a:cs typeface="Arial"/>
              </a:rPr>
              <a:t>هدف النظام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1B500-72AD-4F18-BA93-D831B6C7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862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تقليل وقت الاستجابة</a:t>
            </a:r>
          </a:p>
          <a:p xmlns:a="http://schemas.openxmlformats.org/drawingml/2006/main">
            <a:pPr algn="ct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وزيادة نسبة الإغلاق</a:t>
            </a:r>
          </a:p>
          <a:p xmlns:a="http://schemas.openxmlformats.org/drawingml/2006/main">
            <a:pPr algn="ct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ورفع وضوح الإدارة</a:t>
            </a:r>
          </a:p>
        </p:txBody>
      </p:sp>
    </p:spTree>
    <p:extLst>
      <p:ext uri="{BB962C8B-B14F-4D97-AF65-F5344CB8AC3E}">
        <p14:creationId xmlns:p14="http://schemas.microsoft.com/office/powerpoint/2010/main" val="1377649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5ec270e7a413f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B3535-0429-4D1E-8938-2BCD8FE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8FC21-C36E-4A45-8C47-B666EE18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3E43B-CF1E-4BF0-BF08-A944C44F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A18B0-9C3B-460D-83B9-84555052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8E55D-5745-4633-AC19-2F97FFB6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رحلة العميل داخل النظام تبدأ من أول رسالة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C931D-4C99-41A3-8ABD-12D4B03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أي عميل جديد يدخل من قناة مبيعات يتم تسجيله وتصنيفه وتوجيهه بدون انتظار يدوي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B75F4-F59A-4B80-BC5D-B6D10CF3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E8CD6-21A2-413B-95EA-5139DBC1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1813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C24ED-335B-4C50-9B4A-A97E8D05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528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مصدر العميل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A4C9F-34E9-4855-80FE-6E73CEBD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7190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إعلان، واتساب، موقع، اتصال، معرض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E6F1E-EA4F-4EA3-AAE3-2903B79B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147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DE3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E3EA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8BB81-BB2F-4CDC-8DDD-B19792C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5918A-DA11-4F39-9305-BC73E1C5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813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8B576-56F9-4A2D-A74E-488A0F4C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528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تسجيل تلقائي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14805-3622-47ED-8982-319942C8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بيانات العميل والفرع والاهتمام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60059-CC1F-48AF-8432-2C164041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DE3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E3EA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4A3BB-CE3C-4AA9-83ED-1BFCFC11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31B02-C1DC-4610-A38A-AA063212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813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65A41-1488-4E88-9B9C-3D7034DD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528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تصنيف ذكي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D7A36-E24D-45CA-832E-E41570DA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7190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درجة الجدية واحتمالية الإغلاق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F10EB-EAB1-4F89-B346-00576482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DE3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E3EA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BE19E-381C-4B92-A083-5CD61C28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A1E43-6176-4283-A32A-ABFC199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813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F03C1-2509-494F-AF12-8D383D5B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توجيه سريع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B9E48-EFF4-40EF-9A72-96BD9986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7190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إرسال لمدير مبيعات الفرع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A87036-1D2D-43F0-95BD-B11E19E9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147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DE3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E3EA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2DCAC-A81C-48B7-8488-20C328DC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34C75-9C4D-42A2-ADA6-41712DAB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813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3341A-B86C-4AA1-A43E-09E1428E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متابعة وإغلاق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F0C43F-469F-458F-BF7A-B425C1D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مهام، تنبيهات، وتقارير</a:t>
            </a:r>
          </a:p>
        </p:txBody>
      </p:sp>
    </p:spTree>
    <p:extLst>
      <p:ext uri="{BB962C8B-B14F-4D97-AF65-F5344CB8AC3E}">
        <p14:creationId xmlns:p14="http://schemas.microsoft.com/office/powerpoint/2010/main" val="1898144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75ed20eac4caa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D9E74-C4A7-42C2-BA4E-E568C4AE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2AE19-68CD-4F95-9CEF-588699A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4CDDA-F883-4350-A34D-64CC44EF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B39DA-472F-4B5E-AC93-07148B72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3DD03-F030-4DDC-B1F2-7F9C1F3C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تصنيف العملاء يحول الزحمة إلى أولويات واضحة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13EB2-F0CA-42E1-B8F9-BA54F480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كل عميل يحصل على درجة تساعد فريق المبيعات يقرر من يبدأ به الآن ومن يحتاج متابعة لاحقة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CFF8B-6B69-477B-9192-1E0BAC29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952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408C8-A2BE-43FF-8398-15A68C76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99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06C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C35"/>
                </a:solidFill>
                <a:latin typeface="Arial"/>
                <a:ea typeface="Arial"/>
                <a:cs typeface="Arial"/>
              </a:rPr>
              <a:t>عميل ساخن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D7032-46BE-42C0-AC82-BA58959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طلب سعر أو تواصل متكرر أو جاهز للزيارة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DEBD1-1DBE-42B6-8E60-2035201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38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اتصال فوري + إرسال للمدير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15DB8-51AB-44E2-9DA9-B1DFF3B4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952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9FDFC-864C-4B19-B489-146248CB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862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D98A0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8A05"/>
                </a:solidFill>
                <a:latin typeface="Arial"/>
                <a:ea typeface="Arial"/>
                <a:cs typeface="Arial"/>
              </a:rPr>
              <a:t>عميل دافئ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7701C-D770-4BF4-9676-B0ECA98E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مهتم لكن يحتاج مقارنة أو معلومات إضافية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E9973-920C-42CA-B9DB-39859849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متابعة مجدولة خلال 24 ساعة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F0069-B21B-4D39-BF8A-AF7126FC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952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207C3-A2B0-4BA5-AC57-14287E93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625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عميل بارد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221E1-A887-4629-916D-928D1CF2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استفسار عام أو اهتمام غير واضح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82321-0923-4445-9547-4D0DBFB8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91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رعاية تسويقية ومتابعة لاحقة</a:t>
            </a:r>
          </a:p>
        </p:txBody>
      </p:sp>
    </p:spTree>
    <p:extLst>
      <p:ext uri="{BB962C8B-B14F-4D97-AF65-F5344CB8AC3E}">
        <p14:creationId xmlns:p14="http://schemas.microsoft.com/office/powerpoint/2010/main" val="446042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adc88261e4ca1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B32FC-636D-4601-BBC2-AEE0FB16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47B0E-1347-40D0-8610-14E94D73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AABE1-2F99-42E0-A4A8-A933BFF3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91EC1-9202-4823-8835-06163110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2556F-7016-4E3B-9FE2-1DFFB47F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مصادر العملاء تصبح قابلة للقياس لا مجرد انطباعات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A37D2-3BC4-44AD-95F7-C1D85DA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الإدارة تعرف أي قناة تجيب عملاء جادين، وأي قناة تحتاج تحسين أو تقليل ميزانية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1808F-EE29-497C-B970-B2667CA2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واتساب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52545-5B1A-41F1-96BE-CDD7FCE6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4800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37B4A-C886-4717-A3E8-3E02B10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إعلانات مدفوعة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0A71C-20E1-4002-887B-74FA9F1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2857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378DD-95A4-4A48-B0E2-D6575444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الموقع الإلكتروني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EA52F-C606-46F0-B594-C6A3370D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76700"/>
            <a:ext cx="2286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DC2D5-1F68-4930-9318-10E0A35B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إنستغرام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22524-D57D-4411-98A2-5802ABA8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91050"/>
            <a:ext cx="1809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C7171-0CF1-49B6-911E-B44677A0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اتصال مباشر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BB756-D8E6-4CE0-8D01-5861AD6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05400"/>
            <a:ext cx="13811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85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7DA30-111C-4D2D-ABD0-9C063CE2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20955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AA46E-2D55-446E-B697-A9B33712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6230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CC126-2E2F-4485-896B-94AB4492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قرار أوضح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64691-4911-490B-9F6F-7C943ACC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ربط المصدر بعدد الصفقات وقيمتها يساعد في توجيه الميزانية للقنوات الأعلى عائدًا</a:t>
            </a:r>
          </a:p>
        </p:txBody>
      </p:sp>
    </p:spTree>
    <p:extLst>
      <p:ext uri="{BB962C8B-B14F-4D97-AF65-F5344CB8AC3E}">
        <p14:creationId xmlns:p14="http://schemas.microsoft.com/office/powerpoint/2010/main" val="1835786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8ecb0fbe14944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78F6C-DA90-49CF-A151-3E89B302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43187-904E-4FCE-A7C7-7F27A244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3E4F3-09EB-4F08-A9C9-4CDDF236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DC1D1-55EC-4281-A020-E704DD01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62AD0-C25B-4524-B60C-2F6FB246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التوزيع الذكي يرسل العميل للفرع الصحيح مباشرة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3CB7F-BC5C-4A52-9450-F5F807EF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بدل التحويل اليدوي، النظام يحدد الفرع أو المدير الأنسب ويرسل بيانات العميل خلال ثواني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6326F-627D-4638-B0C8-4B3975F9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86100"/>
            <a:ext cx="2857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0B65A-B852-4F3B-B3CA-919BAA06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0861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828D5-E4E8-4A2C-8B16-CD54FF37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قواعد التوجيه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F39F7-31F6-4510-A3F9-6B9F342D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2495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حسب المدينة والفرع ونوع الخدمة ووقت الدوام وضغط العمل على الفريق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0A3ED-452E-4C85-AFCF-A469307F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2857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FC6A4-FF02-42F9-B1D6-7C5A753C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861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B3731-4753-4918-95B8-D476BB9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575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إشعار فوري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43F3E-E15E-4845-A6CB-881E6C83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76650"/>
            <a:ext cx="2495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رسالة واتساب أو إيميل تحتوي بيانات العميل واهتمامه ومصدره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61FB6-1BB0-4FBC-AE8E-0DBEC8DE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86100"/>
            <a:ext cx="2857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D9B13-F995-4FE4-A3A4-381D4BA1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861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5D693-65E0-496B-AD56-FD58CDFA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575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متابعة تلقائية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49E87-74D2-4648-B0C3-9105481A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76650"/>
            <a:ext cx="2495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إن لم يتم الرد خلال مدة محددة، يتم التصعيد أو إعادة توزيع الفرصة</a:t>
            </a:r>
          </a:p>
        </p:txBody>
      </p:sp>
    </p:spTree>
    <p:extLst>
      <p:ext uri="{BB962C8B-B14F-4D97-AF65-F5344CB8AC3E}">
        <p14:creationId xmlns:p14="http://schemas.microsoft.com/office/powerpoint/2010/main" val="1882764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bd85944564d48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1DA1D-434C-4A2D-A656-784634CC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CE028-3825-4069-97EC-134F18BE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81E80-D69D-4A94-9B75-66EA6844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A1AAF-F5E3-418C-8173-C82E306B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BF64C-0EA0-4210-BB12-CBB1EF42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الذكاء الاصطناعي يرفع جودة قرار فريق المبيعات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41F5A-B5D5-4670-9858-806D012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ليس المطلوب أن يستبدل الفريق، بل أن يعطيهم إشارات تساعدهم يقفلون بشكل أسرع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EE1A8-447E-4201-A08D-3C405845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601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اقتراح درجة احتمالية الإغلاق لكل عميل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EF0E9-5704-4FCB-9976-BF0B6015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797AB-663F-45CB-8826-5C8C39C8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05200"/>
            <a:ext cx="601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تلخيص محادثات العميل ونقاط اهتمامه قبل التواصل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7771D-B67F-44C0-ADBD-1BEFAD7A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09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6854A-C02A-4379-B792-6544F02E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601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اقتراح الرد المناسب حسب حالة العميل والمنتج المطلوب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6654F-A730-438F-833B-9B25723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AC767-1097-47D2-A373-F441C409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601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تنبيه الإدارة عند وجود عميل مهم لم تتم متابعته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0D88B-CA50-4650-A988-04A99828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76121-B85A-429F-B72E-B51912C9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91100"/>
            <a:ext cx="601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اكتشاف القنوات أو الفروع التي تحتاج تحسين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FD1E7-9860-4EDD-B512-900A88D4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E8219-1EF0-46D9-BD3B-B2D820CB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6289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3E8"/>
          </a:solidFill>
          <a:ln xmlns:a="http://schemas.openxmlformats.org/drawingml/2006/main" w="9525">
            <a:solidFill>
              <a:srgbClr val="EFD9B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6E2C8-A0E0-40B0-A689-FDABF2D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9090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98A0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D98A05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7F59A-B6DB-486E-AFA5-76BEF9AA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توصيات عملية</a:t>
            </a:r>
          </a:p>
          <a:p xmlns:a="http://schemas.openxmlformats.org/drawingml/2006/main">
            <a:pPr algn="ct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وليست تعقيد تقني</a:t>
            </a:r>
          </a:p>
        </p:txBody>
      </p:sp>
    </p:spTree>
    <p:extLst>
      <p:ext uri="{BB962C8B-B14F-4D97-AF65-F5344CB8AC3E}">
        <p14:creationId xmlns:p14="http://schemas.microsoft.com/office/powerpoint/2010/main" val="6763298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f50635d9645d0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FB344-5492-4C58-9953-E8DB3FEF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57735-87D5-4360-BC68-0543DE9C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EBA3D-7424-4565-A152-53DF9F72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B20E2-C6DD-43A9-BD63-2063FA81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B8340-23EE-4F52-B0BE-BA02BFBD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لوحة الإدارة تعطي صورة مباشرة عن كل الفروع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13BF2-7DA8-406E-9CB5-92C74EB3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المالك أو الإدارة العليا يشوفون أين تأتي الفرص، أين تتعطل، ومن الفريق الأعلى أداء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2CE5B-9CF5-4581-811C-72B7A57E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2724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A8D14-774D-4C81-9B4C-7684B4FE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048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3921A-9BB1-4AE3-8129-0DB6DDC9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مراحل الصفقات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A53E2-97E5-4748-8E5C-DA84388B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جديد، تواصل، عرض سعر، تفاوض، مغلق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801AD-0679-4A36-88AA-8287EA7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2724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0B9EE-0B7A-4822-900B-B093CBAD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48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49613-CA72-4098-9981-AD098C5C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94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أداء الفروع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89A20-619D-4A03-BFA5-F99AE37D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3855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عدد العملاء وسرعة الرد والصفقات المغلقة والعملاء المفقودين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D6BE4-5920-4C09-9D01-5E0962DC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0"/>
            <a:ext cx="2724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E6008-68D8-4A41-8F3F-2D85D274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48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F3AF6-2746-4A4F-AA7F-5F534CB1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194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تقارير المصادر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D78DA-EC07-47CE-A9A1-C23E9DD3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أي مصدر يجيب عملاء أكثر وأي مصدر يحقق إغلاق أعلى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088E7-18A1-4808-BBD2-BADBA2C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95850"/>
            <a:ext cx="836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C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C35"/>
                </a:solidFill>
                <a:latin typeface="Arial"/>
                <a:ea typeface="Arial"/>
                <a:cs typeface="Arial"/>
              </a:rPr>
              <a:t>كل تقرير مصمم عشان يجاوب سؤال إداري واضح، مو مجرد أرقام كثيرة</a:t>
            </a:r>
          </a:p>
        </p:txBody>
      </p:sp>
    </p:spTree>
    <p:extLst>
      <p:ext uri="{BB962C8B-B14F-4D97-AF65-F5344CB8AC3E}">
        <p14:creationId xmlns:p14="http://schemas.microsoft.com/office/powerpoint/2010/main" val="11154035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7f3c3b4f34174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EE7BF-D731-4C17-ACD0-048BAE00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79FEF-806A-4D25-83EF-5825AFCA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D8F1D-A4EF-4A1B-9011-0E735058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6BEC7-E690-45FE-8A80-7193F8E0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BB454-B6E7-48DB-9E66-07DAC4B3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النظام قابل للتوسع مع نمو الفروع والفريق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DE09A-0763-41A9-B0CB-6E6654EA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نبدأ بالاحتياج الأساسي، ثم نضيف الخصائص حسب الأولوية التجارية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F0DB6-514F-4D9C-9881-7013D95C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4171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0BD21-42E3-4A2A-968F-990A3E1B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8194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778B8-B012-499F-812B-6DE5BE41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إدارة العملاء والصفقات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37BEC-852F-4388-8981-A3EB1FDA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سجل موحد لكل عميل وفرصة ومتابعة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D1C84-7803-430C-A481-E62A171B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9400"/>
            <a:ext cx="4171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44D81-61BE-43C7-8F86-2D07DA6E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8194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A3382-1077-4F5A-A2B5-1C06E461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0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صلاحيات حسب الفرع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820BD-6103-4D7C-842E-8EF93601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9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كل مدير يشوف فريقه، والإدارة تشوف الصورة الكاملة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68795-35DC-4A50-8CDC-123E2B7C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86200"/>
            <a:ext cx="4171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9587A-D5FD-43CF-BB96-78DC758E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8862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926FC-0C23-4009-9E93-41D07BEB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تكاملات متعددة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B6876-182E-4A29-91C7-E4EEA99B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واتساب وإيميل ونماذج الموقع والإعلانات وربط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578D0-1C9A-49B3-AC2F-4058AEEF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4171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2F079-657C-44FF-B15C-D7DACFCD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8862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EBB2A-5F9F-4F2B-AED1-B3A230C6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57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أتمتة المهام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DA47F-7290-4BD0-AF7B-4FA869AF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7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تذكيرات، تصعيد، توزيع، وسيناريوهات متابعة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9F4B2-E3BC-480D-8B6D-432A3516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171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8463F-BDB2-46BA-87CB-B34EA30A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9530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C504F-DE08-408A-8065-EC546421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تحليلات ذكية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A72D56-28D7-4EB3-B60F-E12C733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43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درجات العملاء وتوقعات وتنبيهات للإدارة</a:t>
            </a:r>
          </a:p>
        </p:txBody>
      </p:sp>
    </p:spTree>
    <p:extLst>
      <p:ext uri="{BB962C8B-B14F-4D97-AF65-F5344CB8AC3E}">
        <p14:creationId xmlns:p14="http://schemas.microsoft.com/office/powerpoint/2010/main" val="15720643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6b51ce8664f26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6B772-2FBD-4131-B3AD-C0F9C22D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2CF75-F190-4E90-A104-901E502D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C69BC-4E63-4804-A566-7F3E47EE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7E933-3D9F-44E0-86E2-E970145B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F5CC8-59D2-4A49-AC55-7F1DBA9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خطة تنفيذ عملية تقلل المخاطر وتسرع أول قيمة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BAA80-4D45-455C-A24B-9B939A6E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نقترح تنفيذ النظام على مراحل حتى يرى العميل نتيجة مبكرة قبل التوسع الكامل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C67C1-AF7E-469C-85E2-83F73AD3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19050">
            <a:solidFill>
              <a:srgbClr val="006C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CE701-5479-42A1-8C9C-32B63D2A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337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B6F7B-55E2-4952-8C1D-A05BB080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تحليل وتجربة المستخدم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2E4CA-2933-42C0-A799-38B54FF6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تثبيت الفروع والمصادر ومراحل البيع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F04FC-3AF9-480D-9AE0-EF81CB93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08E94-A025-46B5-A0A2-F3EC895B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521F0-FE64-4563-8358-C3EDA1C4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337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97D8C-2074-4A08-9DB8-1A89777E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النواة الأساسية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43687-7B8D-4D4B-B35B-38629815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العملاء والصفقات والصلاحيات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B040C-089D-4A92-9170-0B817DFA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88EB7-5324-4A96-8891-CA99E22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15FED-DF7D-48BF-A678-788093C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337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12A9C-65BF-4680-84C5-E91CB913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338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التوزيع والتنبيهات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F0096-EC7B-4EC1-9BC0-09A17AA6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910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واتساب، إيميل، قواعد الفروع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B31A3-2CF1-4FE3-A40B-A41C7056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861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830D4-95DD-431A-83E0-7D0A97DE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FC868-5321-405D-B5C8-65A60481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337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FEF845-C298-4FB0-9DFB-7D20AFE2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338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الذكاء والتقارير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68201-8A6C-411B-9BE7-D8DA3415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910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تصنيف العملاء ولوحات الإدارة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C9E44-5AF0-44B3-9727-E444AA7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861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1764D-9D93-49FA-990B-021D39D2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3F4832-3FA8-4CAC-B5AB-C98B1A8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337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55153D-E561-4C01-8D7E-7433A82F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الإطلاق والتدريب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458E1A-B9A1-4CD3-A1D7-3D796795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تسليم، تدريب، دعم وتحسينات</a:t>
            </a:r>
          </a:p>
        </p:txBody>
      </p:sp>
    </p:spTree>
    <p:extLst>
      <p:ext uri="{BB962C8B-B14F-4D97-AF65-F5344CB8AC3E}">
        <p14:creationId xmlns:p14="http://schemas.microsoft.com/office/powerpoint/2010/main" val="6872607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03349a26042af"/>
          <a:stretch xmlns:a="http://schemas.openxmlformats.org/drawingml/2006/main"/>
        </p:blipFill>
        <p:spPr>
          <a:xfrm xmlns:a="http://schemas.openxmlformats.org/drawingml/2006/main">
            <a:off x="72390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8C596-AB72-49CF-A36D-FECCB3AF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للفروع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71E36-0780-4AA3-B45D-AD8D8286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DC1BB-88ED-45C9-A455-5EFBF52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HammerLoad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9412F-3AE7-4969-8BCB-E6228B29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ADBEC-D385-43FF-8645-45ED5075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630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D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D33"/>
                </a:solidFill>
                <a:latin typeface="Arial"/>
                <a:ea typeface="Arial"/>
                <a:cs typeface="Arial"/>
              </a:rPr>
              <a:t>النتيجة المتوقعة: مبيعات أسرع وإدارة أوضح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6803B-E6BD-42D2-9B65-4C4AC444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نظام علاقات عملاء ذكي يحول كل عميل جديد إلى فرصة منظمة ومتابعة قابلة للقياس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63F68-07A5-4E60-8169-56608355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استجابة أسرع للعملاء المحتملين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97A0F-BF3F-4532-AA3B-36762106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8BD21-A746-44DC-ACA6-231F5978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242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تقليل ضياع الفرص بين الفروع والقنوات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330BA-76D6-4215-97C9-96E18DAA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0EE7F-AE67-4CD2-B359-1BDE9A50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رفع وضوح الإدارة على مصادر العملاء ونسبة الإغلاق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416E9-3A81-4F9C-B33A-F1A36674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F3C1D-0DA8-4C9A-8D9E-AFA9C141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529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توحيد طريقة عمل فريق المبيعات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52F4B-68D4-4451-8721-1C429911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7D291-4701-4CE4-80C7-7E165BF9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6730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قابلية تطوير النظام لاحقًا حسب نمو الشركة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BC3BE-200D-44E8-BA88-B430E46A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72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2495D-0079-428D-A868-CCC57B2B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3028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0F1D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A814F-AA62-46F5-8992-6B44ACBE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الخطوة التالية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DF81C-4751-4DCD-AECA-6A0EEB3E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جلسة قصيرة لتثبيت الفروع ومصادر العملاء ومراحل البيع قبل عرض التكلفة النهائية</a:t>
            </a:r>
          </a:p>
        </p:txBody>
      </p:sp>
    </p:spTree>
    <p:extLst>
      <p:ext uri="{BB962C8B-B14F-4D97-AF65-F5344CB8AC3E}">
        <p14:creationId xmlns:p14="http://schemas.microsoft.com/office/powerpoint/2010/main" val="592193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2026-09-03T13:28:17.4640000Z</dcterms:created>
  <dcterms:modified xsi:type="dcterms:W3CDTF">2026-09-03T13:28:17.4640000Z</dcterms:modified>
</coreProperties>
</file>